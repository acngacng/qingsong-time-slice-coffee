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83d14938be4bc2" /><Relationship Type="http://schemas.openxmlformats.org/officeDocument/2006/relationships/extended-properties" Target="/docProps/app.xml" Id="R1781ec49d6f14ef2" /><Relationship Type="http://schemas.openxmlformats.org/officeDocument/2006/relationships/officeDocument" Target="/ppt/presentation.xml" Id="R9d9af51cf3a8477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70be407f91c4872"/>
  </p:sldMasterIdLst>
  <p:notesMasterIdLst>
    <p:notesMasterId xmlns:r="http://schemas.openxmlformats.org/officeDocument/2006/relationships" r:id="R0688d83265464220"/>
  </p:notesMasterIdLst>
  <p:sldIdLst>
    <p:sldId xmlns:r="http://schemas.openxmlformats.org/officeDocument/2006/relationships" id="256" r:id="R8a030e8e93e74254"/>
    <p:sldId xmlns:r="http://schemas.openxmlformats.org/officeDocument/2006/relationships" id="257" r:id="R11badee9fd0846f5"/>
    <p:sldId xmlns:r="http://schemas.openxmlformats.org/officeDocument/2006/relationships" id="258" r:id="R17e7ccc241c646fb"/>
    <p:sldId xmlns:r="http://schemas.openxmlformats.org/officeDocument/2006/relationships" id="259" r:id="Rdb22c433281c4251"/>
    <p:sldId xmlns:r="http://schemas.openxmlformats.org/officeDocument/2006/relationships" id="260" r:id="Rce2504e7f9414b2d"/>
    <p:sldId xmlns:r="http://schemas.openxmlformats.org/officeDocument/2006/relationships" id="261" r:id="R71f2eb35f2cb4778"/>
    <p:sldId xmlns:r="http://schemas.openxmlformats.org/officeDocument/2006/relationships" id="262" r:id="R04be8d768e3e4421"/>
    <p:sldId xmlns:r="http://schemas.openxmlformats.org/officeDocument/2006/relationships" id="263" r:id="R0ce0f87f3ada441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0be407f91c4872" /><Relationship Type="http://schemas.openxmlformats.org/officeDocument/2006/relationships/theme" Target="/ppt/theme/theme1.xml" Id="Rf8389337c59b4ffa" /><Relationship Type="http://schemas.openxmlformats.org/officeDocument/2006/relationships/notesMaster" Target="/ppt/notesMasters/notesMaster1.xml" Id="R0688d83265464220" /><Relationship Type="http://schemas.openxmlformats.org/officeDocument/2006/relationships/presProps" Target="/ppt/presProps.xml" Id="R5ba1b0514c904e59" /><Relationship Type="http://schemas.openxmlformats.org/officeDocument/2006/relationships/viewProps" Target="/ppt/viewProps.xml" Id="Ra1291d1d6b8f451b" /><Relationship Type="http://schemas.openxmlformats.org/officeDocument/2006/relationships/tableStyles" Target="/ppt/tableStyles.xml" Id="R7b64a3b924cc4143" /><Relationship Type="http://schemas.openxmlformats.org/officeDocument/2006/relationships/slide" Target="/ppt/slides/slide1.xml" Id="R8a030e8e93e74254" /><Relationship Type="http://schemas.openxmlformats.org/officeDocument/2006/relationships/slide" Target="/ppt/slides/slide2.xml" Id="R11badee9fd0846f5" /><Relationship Type="http://schemas.openxmlformats.org/officeDocument/2006/relationships/slide" Target="/ppt/slides/slide3.xml" Id="R17e7ccc241c646fb" /><Relationship Type="http://schemas.openxmlformats.org/officeDocument/2006/relationships/slide" Target="/ppt/slides/slide4.xml" Id="Rdb22c433281c4251" /><Relationship Type="http://schemas.openxmlformats.org/officeDocument/2006/relationships/slide" Target="/ppt/slides/slide5.xml" Id="Rce2504e7f9414b2d" /><Relationship Type="http://schemas.openxmlformats.org/officeDocument/2006/relationships/slide" Target="/ppt/slides/slide6.xml" Id="R71f2eb35f2cb4778" /><Relationship Type="http://schemas.openxmlformats.org/officeDocument/2006/relationships/slide" Target="/ppt/slides/slide7.xml" Id="R04be8d768e3e4421" /><Relationship Type="http://schemas.openxmlformats.org/officeDocument/2006/relationships/slide" Target="/ppt/slides/slide8.xml" Id="R0ce0f87f3ada441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2f08ac6037c46f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4e6c81214b44315" /><Relationship Type="http://schemas.openxmlformats.org/officeDocument/2006/relationships/notesMaster" Target="/ppt/notesMasters/notesMaster1.xml" Id="Rf43f5e05badc457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9a7341c435441b3" /><Relationship Type="http://schemas.openxmlformats.org/officeDocument/2006/relationships/notesMaster" Target="/ppt/notesMasters/notesMaster1.xml" Id="R809f382c01eb48a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7ec06ad56b94f8d" /><Relationship Type="http://schemas.openxmlformats.org/officeDocument/2006/relationships/notesMaster" Target="/ppt/notesMasters/notesMaster1.xml" Id="Rfd95de765f6b456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c1b27b92e9748c1" /><Relationship Type="http://schemas.openxmlformats.org/officeDocument/2006/relationships/notesMaster" Target="/ppt/notesMasters/notesMaster1.xml" Id="Rd28c27143c87418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c70cec63e384fc1" /><Relationship Type="http://schemas.openxmlformats.org/officeDocument/2006/relationships/notesMaster" Target="/ppt/notesMasters/notesMaster1.xml" Id="Rad20d60a604541f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e4c74a073a94e02" /><Relationship Type="http://schemas.openxmlformats.org/officeDocument/2006/relationships/notesMaster" Target="/ppt/notesMasters/notesMaster1.xml" Id="Rcee65098a7a24d1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c18689c796349d3" /><Relationship Type="http://schemas.openxmlformats.org/officeDocument/2006/relationships/notesMaster" Target="/ppt/notesMasters/notesMaster1.xml" Id="Reed8f38f8d0b48b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724de5a182149bd" /><Relationship Type="http://schemas.openxmlformats.org/officeDocument/2006/relationships/notesMaster" Target="/ppt/notesMasters/notesMaster1.xml" Id="R88f2c38efb0a4ee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b78bc17f2b488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9cb42d5acf4b1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40599679dc418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2ab051b68842b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106e7596f44891" /></Relationships>
</file>

<file path=ppt/slideLayouts/slideLayout1.xml><?xml version="1.0" encoding="utf-8"?>
<p:sldLayout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4.xml><?xml version="1.0" encoding="utf-8"?>
<p:sldLayout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5.xml><?xml version="1.0" encoding="utf-8"?>
<p:sldLayout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6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c753e9bed84ef9" /><Relationship Type="http://schemas.openxmlformats.org/officeDocument/2006/relationships/theme" Target="/ppt/theme/theme1.xml" Id="Rb9e838f5458648ac" /><Relationship Type="http://schemas.openxmlformats.org/officeDocument/2006/relationships/slideLayout" Target="/ppt/slideLayouts/slideLayout2.xml" Id="R13771606caf14c38" /><Relationship Type="http://schemas.openxmlformats.org/officeDocument/2006/relationships/slideLayout" Target="/ppt/slideLayouts/slideLayout3.xml" Id="R0353ccb731a9422e" /><Relationship Type="http://schemas.openxmlformats.org/officeDocument/2006/relationships/slideLayout" Target="/ppt/slideLayouts/slideLayout4.xml" Id="Ra1c207c1e83d4765" /><Relationship Type="http://schemas.openxmlformats.org/officeDocument/2006/relationships/slideLayout" Target="/ppt/slideLayouts/slideLayout5.xml" Id="Redd294139b774229" /><Relationship Type="http://schemas.openxmlformats.org/officeDocument/2006/relationships/slideLayout" Target="/ppt/slideLayouts/slideLayout6.xml" Id="R912554fd73d14e1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8" r:id="R71c753e9bed84ef9"/>
    <p:sldLayoutId xmlns:r="http://schemas.openxmlformats.org/officeDocument/2006/relationships" id="2147483649" r:id="R13771606caf14c38"/>
    <p:sldLayoutId xmlns:r="http://schemas.openxmlformats.org/officeDocument/2006/relationships" id="2147483650" r:id="R0353ccb731a9422e"/>
    <p:sldLayoutId xmlns:r="http://schemas.openxmlformats.org/officeDocument/2006/relationships" id="2147483651" r:id="Ra1c207c1e83d4765"/>
    <p:sldLayoutId xmlns:r="http://schemas.openxmlformats.org/officeDocument/2006/relationships" id="2147483652" r:id="Redd294139b774229"/>
    <p:sldLayoutId xmlns:r="http://schemas.openxmlformats.org/officeDocument/2006/relationships" id="2147483653" r:id="R912554fd73d14e1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979b1ebd0d4481" /><Relationship Type="http://schemas.openxmlformats.org/officeDocument/2006/relationships/image" Target="/ppt/media/image.png" Id="R4e3a69df74e346c0" /><Relationship Type="http://schemas.openxmlformats.org/officeDocument/2006/relationships/notesSlide" Target="/ppt/notesSlides/notesSlide1.xml" Id="R260dbb5c15e84a1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9c37a230f44c65" /><Relationship Type="http://schemas.openxmlformats.org/officeDocument/2006/relationships/image" Target="/ppt/media/image2.png" Id="R888bb6451e9f4ba0" /><Relationship Type="http://schemas.openxmlformats.org/officeDocument/2006/relationships/notesSlide" Target="/ppt/notesSlides/notesSlide2.xml" Id="R2bedd6839d7c457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ea07b0694e436d" /><Relationship Type="http://schemas.openxmlformats.org/officeDocument/2006/relationships/notesSlide" Target="/ppt/notesSlides/notesSlide3.xml" Id="Rbc651537cd4a4fc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62e207e1624c15" /><Relationship Type="http://schemas.openxmlformats.org/officeDocument/2006/relationships/notesSlide" Target="/ppt/notesSlides/notesSlide4.xml" Id="R77445f255e014be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af6100ab554a47d8" /><Relationship Type="http://schemas.openxmlformats.org/officeDocument/2006/relationships/image" Target="/ppt/media/image3.png" Id="R99ab5e33d11a4b45" /><Relationship Type="http://schemas.openxmlformats.org/officeDocument/2006/relationships/notesSlide" Target="/ppt/notesSlides/notesSlide5.xml" Id="R838dd1f9cfbd4ae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8557866801c94658" /><Relationship Type="http://schemas.openxmlformats.org/officeDocument/2006/relationships/notesSlide" Target="/ppt/notesSlides/notesSlide6.xml" Id="R44dd9db4dc62407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c504a7acdc4f6e" /><Relationship Type="http://schemas.openxmlformats.org/officeDocument/2006/relationships/notesSlide" Target="/ppt/notesSlides/notesSlide7.xml" Id="R5d8e2a395e64429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1f481c98e6024382" /><Relationship Type="http://schemas.openxmlformats.org/officeDocument/2006/relationships/image" Target="/ppt/media/image4.png" Id="R0090ee08cada436d" /><Relationship Type="http://schemas.openxmlformats.org/officeDocument/2006/relationships/notesSlide" Target="/ppt/notesSlides/notesSlide8.xml" Id="R103a3e998265400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2C1643-1562-45FB-9D7F-579613A1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3a69df74e346c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15FAE0-A664-4DC4-BE65-A0BA99C91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9333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AC289C-63BE-4A3C-89FA-017A70BD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E8A447-2390-4AB1-9417-1D1F6952C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D5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1-marker">
            <a:extLst xmlns:a="http://schemas.openxmlformats.org/drawingml/2006/main">
              <a:ext uri="{FF2B5EF4-FFF2-40B4-BE49-F238E27FC236}">
                <a16:creationId xmlns:a16="http://schemas.microsoft.com/office/drawing/2014/main" id="{841B3DAE-5479-4B1E-8316-11C0780CE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01-label">
            <a:extLst xmlns:a="http://schemas.openxmlformats.org/drawingml/2006/main">
              <a:ext uri="{FF2B5EF4-FFF2-40B4-BE49-F238E27FC236}">
                <a16:creationId xmlns:a16="http://schemas.microsoft.com/office/drawing/2014/main" id="{C1D75437-1478-4B70-A919-22F98C7DC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24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HACKATHON PITCH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0FE6D2-3BEC-4ABD-84C6-F31CE764F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4762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Time Slice</a:t>
            </a:r>
          </a:p>
          <a:p xmlns:a="http://schemas.openxmlformats.org/drawingml/2006/main">
            <a:pPr algn="l"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Coffee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45158D-69E9-4FA9-9175-D1D0581E5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TODAY'S QUESTION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EB8E10-01D4-4BC2-B314-5604D3C5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4914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375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你今日 fo 了 mo？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252BC7-4471-4C84-A9FA-EEF9D004E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57600"/>
            <a:ext cx="4686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把今天真正重要的一则变化，</a:t>
            </a:r>
          </a:p>
          <a:p xmlns:a="http://schemas.openxmlformats.org/drawingml/2006/main">
            <a:pPr algn="l">
              <a:def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装进一杯咖啡里。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98F2C5-1A7B-4CD9-AE64-D39FD364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24400"/>
            <a:ext cx="3143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902"/>
            </a:srgbClr>
          </a:solidFill>
          <a:ln xmlns:a="http://schemas.openxmlformats.org/drawingml/2006/main" w="10478">
            <a:solidFill>
              <a:srgbClr val="15100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B02300-F44C-444F-93EE-A2AA5F1B3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4733925"/>
            <a:ext cx="4286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D9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274188-9E84-4C35-88D3-0F9E09CB7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733925"/>
            <a:ext cx="4286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D9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1D5B4F-C2BD-46B6-A306-08A48DDA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4733925"/>
            <a:ext cx="4286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D9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1607D4-E313-4167-B5CD-40826A9C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733925"/>
            <a:ext cx="4286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D9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A413B8-1676-4219-B56B-887EE7B00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733925"/>
            <a:ext cx="4286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D9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4E556C-7E0A-4F5C-8B89-8F01AF16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10150"/>
            <a:ext cx="29146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258297-FD5E-4736-A894-6742B4E7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76850"/>
            <a:ext cx="29146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A92133-B207-41D9-ADF5-FC06EBF52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43550"/>
            <a:ext cx="29146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66EFA7-3240-48E5-A012-B0FBCDD2A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10250"/>
            <a:ext cx="29146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8DD509-ED1E-471D-A460-E2BC7C6E3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63449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FBA34A-5A6B-4286-8462-7BC70B010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8196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5F6B72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5F6B72"/>
                </a:solidFill>
                <a:latin typeface="Aptos Mono"/>
                <a:ea typeface="Aptos Mono"/>
                <a:cs typeface="Aptos Mono"/>
              </a:rPr>
              <a:t>TS-001 / AI FRONTIER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83C4C5-A5BC-440E-9F38-911E5D2B1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14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5F6B72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5F6B72"/>
                </a:solidFill>
                <a:latin typeface="Aptos Mono"/>
                <a:ea typeface="Aptos Mono"/>
                <a:cs typeface="Aptos Mono"/>
              </a:rPr>
              <a:t>FOR BUILDER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412ACA-212C-44B5-AA65-DF2D28DEE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00675"/>
            <a:ext cx="12001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5F6B72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5F6B72"/>
                </a:solidFill>
                <a:latin typeface="Aptos Mono"/>
                <a:ea typeface="Aptos Mono"/>
                <a:cs typeface="Aptos Mono"/>
              </a:rPr>
              <a:t>TODAY'S SLICE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E5F504-0961-4752-AA90-F3C45AA69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381625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changed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DDBEA7-064B-4015-B7EC-D14D20727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95950"/>
            <a:ext cx="12001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5F6B72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5F6B72"/>
                </a:solidFill>
                <a:latin typeface="Aptos Mono"/>
                <a:ea typeface="Aptos Mono"/>
                <a:cs typeface="Aptos Mono"/>
              </a:rPr>
              <a:t>BREW REGULAR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7B613D-745C-41CF-ADE4-52D7AF283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695950"/>
            <a:ext cx="1066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5F6B72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5F6B72"/>
                </a:solidFill>
                <a:latin typeface="Aptos Mono"/>
                <a:ea typeface="Aptos Mono"/>
                <a:cs typeface="Aptos Mono"/>
              </a:rPr>
              <a:t>SERVED HOT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3E78C24-CB40-40DF-A233-9FAF94764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695950"/>
            <a:ext cx="133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5917E0-39B3-457D-AB19-F83543CB5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029200"/>
            <a:ext cx="142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An information consumer product</a:t>
            </a:r>
          </a:p>
          <a:p xmlns:a="http://schemas.openxmlformats.org/drawingml/2006/main">
            <a:pPr algn="l">
              <a:defRPr sz="1050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for the AI age.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844A1E-B0DE-42CD-A761-2B41F249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218349E-DF4F-4D40-96F4-3CAC0B708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7687794-105B-4993-9759-1D5D0AD4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559532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41D718-76A7-44CE-B095-9C16D6E9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8bb6451e9f4ba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4876C6-A4E5-4DE7-8EA2-5AEE1E79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715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>
              <a:alpha val="9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B65E55-3520-4024-A2C6-FD65D04E6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>
              <a:alpha val="1333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8C2B925F-69BF-4E4C-A4AF-DE0BD45B5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43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58D05A21-12A7-4A3C-82F1-593750F20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31FD98-2E2A-4256-A783-41EC13F9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4762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Every Signal</a:t>
            </a:r>
          </a:p>
          <a:p xmlns:a="http://schemas.openxmlformats.org/drawingml/2006/main">
            <a:pPr algn="l">
              <a:buNone/>
              <a:defRPr sz="33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Pretends to Matter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A788B4-028D-472C-BD76-51DEFD7C4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28850"/>
            <a:ext cx="476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rPr>
              <a:t>每一条信息都装作自己很重要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29C4C3-32B9-4DDC-9075-06508AFED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19450"/>
            <a:ext cx="4648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AI 时代的问题不是信息不够，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而是每天都有太多数据信号在制造 FOMO。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044FA2-A32D-453D-9EA5-181A860B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57700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74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52952F-DA4A-4386-BD8D-E9EE8F48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3962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8CDB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CDBE"/>
                </a:solidFill>
                <a:latin typeface="Aptos"/>
                <a:ea typeface="Aptos"/>
                <a:cs typeface="Aptos"/>
              </a:rPr>
              <a:t>People fear missing out, falling behind, or being replaced. The pressure comes from too many signals pretending to be urgent.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F2B93F-B5F2-4B8A-B7FA-59FA1B864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895350"/>
            <a:ext cx="1752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>
              <a:alpha val="65882"/>
            </a:srgbClr>
          </a:solidFill>
          <a:ln xmlns:a="http://schemas.openxmlformats.org/drawingml/2006/main" w="9525">
            <a:solidFill>
              <a:srgbClr val="6B5748"/>
            </a:solidFill>
            <a:prstDash val="solid"/>
          </a:ln>
        </p:spPr>
        <p:txBody>
          <a:bodyPr xmlns:a="http://schemas.openxmlformats.org/drawingml/2006/main" lIns="114300" tIns="114300" rIns="114300" bIns="11430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AI UPDATE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MARKET ALERT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WORKFLOW SHIFT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MODEL RELEASE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0701A1-3472-4A56-921B-1689426F8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48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80A2F8-E88D-48B0-8517-3573177CF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69410B-219F-4325-896E-DC3A996F2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6439436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83D94D-2E3B-43D5-A209-E52FEB13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033B4960-5927-4D86-AE19-04DC28F64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43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47460E66-B437-4411-BAFB-BD8F9FF6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INSIGHT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D5ED35-EC37-49DF-9C02-4834AA2A8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590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Understanding</a:t>
            </a:r>
          </a:p>
          <a:p xmlns:a="http://schemas.openxmlformats.org/drawingml/2006/main">
            <a:pPr algn="l">
              <a:buNone/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Becomes a Product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755435-AF2B-4F27-9775-99B0FF9AF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33600"/>
            <a:ext cx="590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理解，正在变成一种消费品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39519A-B1F7-4EE0-961F-9D414E72E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42291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过去，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人们买水是为了解渴。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后来，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人们购买品牌、身份和生活方式。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而 AI 时代，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人们开始购买：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对这个时代的理解。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606138-BB52-4ED6-B041-AD90EC5C3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429000"/>
            <a:ext cx="5067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552169-68A5-4A30-B4C5-81630592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41935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FB9253-D03D-41EA-AAC9-BB81ADA5F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6098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5FD1D0-0451-4D2B-A8E8-6601C4670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7146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AAFDA8-8B84-4C96-88E5-0ACF0421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Water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E3C904-1504-443B-AF71-48156F51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44805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解渴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FBC916-3717-4E62-9064-6D122556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1935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B2BF8F-2FD9-44D8-8E5C-0F887A2AC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6098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2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D89329-D666-4BFF-A841-AB4978DE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7146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2DC51B-2C23-466B-9F54-F703AACF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623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Brand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326B25-2646-4EF5-B419-D53FCCE5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44805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身份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DE81A6-8AE8-4094-868C-21C2EA9F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1935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E2062D-4432-4F07-B771-777B181C4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6098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573613-AEA4-4904-B8D6-9CD99D80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7146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584D5F-822C-4369-AD1E-C067FD84F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1623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Coffee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DC4C33-16B6-4D3D-B0B5-DA12E0617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44805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生活方式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8AADEB-4941-4A87-844C-1461F3E09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152900"/>
            <a:ext cx="1809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17145">
            <a:solidFill>
              <a:srgbClr val="15100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0791CF-B3B3-416E-AF55-871B6F46F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15290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CA18CD-DC23-443A-B1C4-7679ABBE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248150"/>
            <a:ext cx="1066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NEW CATEGORY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89EF5E-92A9-4672-8F69-B923068B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291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A81A16-8462-4B6F-8A73-3210A4855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7339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E49451-16F6-4984-BB78-A233D9503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62550"/>
            <a:ext cx="1466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Info Coffee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3FA0B7-7A8F-4FCE-AF1D-407965D0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429250"/>
            <a:ext cx="1466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5482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5482E"/>
                </a:solidFill>
                <a:latin typeface="Aptos"/>
                <a:ea typeface="Aptos"/>
                <a:cs typeface="Aptos"/>
              </a:rPr>
              <a:t>时代理解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7FE452-C11F-41BE-BED2-5C90E1EE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838450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9EC774-CEFB-498F-80DB-D7CD714A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686300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C031C43-18F1-4816-AD75-85FC92B5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5905500"/>
            <a:ext cx="504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Packaged understanding becomes a product.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73F8DD2-6ADC-4B36-8658-6AEAFF183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DCB41FD-B303-40E6-9F38-B2789AA8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7BEB9FE-DD8A-4548-BD96-7E1E7D680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4018611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13803A-43B6-40E1-99A1-C686DACE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4-marker">
            <a:extLst xmlns:a="http://schemas.openxmlformats.org/drawingml/2006/main">
              <a:ext uri="{FF2B5EF4-FFF2-40B4-BE49-F238E27FC236}">
                <a16:creationId xmlns:a16="http://schemas.microsoft.com/office/drawing/2014/main" id="{148384CE-D54A-443F-BEFD-13A120BB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43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4-label">
            <a:extLst xmlns:a="http://schemas.openxmlformats.org/drawingml/2006/main">
              <a:ext uri="{FF2B5EF4-FFF2-40B4-BE49-F238E27FC236}">
                <a16:creationId xmlns:a16="http://schemas.microsoft.com/office/drawing/2014/main" id="{3AA2211D-04B2-4F3B-B4FD-B1C0BD98C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PRODUCT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79682E-5319-46F3-B8C2-41A99CBA9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4171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An Information</a:t>
            </a:r>
          </a:p>
          <a:p xmlns:a="http://schemas.openxmlformats.org/drawingml/2006/main">
            <a:pPr algn="l">
              <a:buNone/>
              <a:defRPr sz="315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Coffee Bar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22D41E-A935-4AA8-AF6F-A8798233A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4171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for the AI 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B1DA48-D99D-4570-BCF2-37A925C5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3619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rPr>
              <a:t>AI 时代的信息咖啡吧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552B23-8BE8-4775-8C33-6C73DBB29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4629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Time Slice Coffee 把真实信息流中的重要变化，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萃取成不同身份可理解、可带走的时代信息切片咖啡。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E44C71-2DBA-4810-9150-1859AD6B2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101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D8C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CDBE"/>
                </a:solidFill>
                <a:latin typeface="Aptos"/>
                <a:ea typeface="Aptos"/>
                <a:cs typeface="Aptos"/>
              </a:rPr>
              <a:t>We turn reading information into ordering a cup.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F6FF23-58BD-4846-8FC7-40837D2E2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742950"/>
            <a:ext cx="5334000" cy="491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19050">
            <a:solidFill>
              <a:srgbClr val="6B574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CE73AF-667A-4266-9C20-9CCD6FE3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742950"/>
            <a:ext cx="5334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19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B9DB08-0600-4336-ACB9-4D97DFF88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95250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165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TODAY'S MENU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FCF8D5-B66D-498D-B259-06948D49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009650"/>
            <a:ext cx="2324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CDBFAE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DBFAE"/>
                </a:solidFill>
                <a:latin typeface="Aptos Mono"/>
                <a:ea typeface="Aptos Mono"/>
                <a:cs typeface="Aptos Mono"/>
              </a:rPr>
              <a:t>6 shelves × identity × density × serve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B77490-9AFC-4EC6-BE99-44ADC81F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95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3F5F6B-2F55-472E-8661-F9930928E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954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E3868E-97C7-4484-8EFA-46E20586A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17716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AI Frontier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71FEA9-5887-4CBA-AC0D-2992D004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19621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AI 前沿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603EE7-B649-4F01-9343-0BA8DA27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95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878C68-235B-4241-B943-640AEA22D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954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AE740B-EF5E-4CAE-AF64-B84E5A20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7716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Build &amp; Workflow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E7E657-5E68-4B17-8C79-D3AB262F3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9621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构建工作流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6AEE32-5AA1-4639-A212-2B29771C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193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9E90C9-E7A7-4516-9846-59DEE46A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193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41570D-4669-4C49-93FD-0C3A8F5F3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4955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Design &amp; Creation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13DAE1-73EA-4148-A208-0EA23116A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6860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设计创作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35E360-E650-4FA1-BDF3-C5132A617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193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543921-D1AA-44C2-80BA-DA168D2A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193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AEC021-3DAC-4A2C-A75C-6182D4A25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4955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Market &amp; Capital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A7B4AB-DF39-49C9-B5F2-236E04937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6860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市场资本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05EB15-45ED-4E7C-A63C-003A332FF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432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57FB1F-324B-4DD9-9E31-684AD4C7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432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DF3303-6B18-4716-8FED-EEB6DB9AC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2194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Self Upgrade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72AE60-9789-4B2B-942A-D8CAD3A5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4099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自我升级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06DB544-CCA3-4A76-B6D8-AE0B31B82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432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18B758-93F7-47EE-9330-0676B5D3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432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A9E0E75-5A79-4AEA-B9D0-BC904CFE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2194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Life Signals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5C20F2-10D6-438B-A10E-CA546D06E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4099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生活信号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623E117-9B18-4B1B-802D-81A204465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943350"/>
            <a:ext cx="44577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B7663D-9564-4E2D-8464-F0929B99D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148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5482E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5482E"/>
                </a:solidFill>
                <a:latin typeface="Aptos Mono"/>
                <a:ea typeface="Aptos Mono"/>
                <a:cs typeface="Aptos Mono"/>
              </a:rPr>
              <a:t>ORDER RECEIPT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B2F2496-990E-40D7-8D26-E0FAEF169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114800"/>
            <a:ext cx="2419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Information coffee is ordered as a label schema.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F4B7BC1-3259-4BE4-8733-A79F25E4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3865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57F590C-5458-4CD9-B4A8-8C35CE93D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386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E251785-FF12-4805-AFC6-099D1ECCF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8627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01  SHELF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493751C-4018-4ECA-BC1A-E2D0B7FB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3865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89AD7C0-EAB3-4DE3-85A6-D76FA5F3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386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BFE9BC6-83DF-4B3A-84C8-45DDEF414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8627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02  RAW SIGNAL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005F460-78C0-431A-8610-3DE38D652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2440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6B60E98-D1C2-4F75-B66F-6A7E79FF8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244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89A95DC-A12C-4981-95D3-64388B37F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7202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03  PERSONA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CD31FEE-D14E-4B7A-B833-1716F7D9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2440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716AB2F-4544-4157-919F-492A475D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244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5B6802B-0C2B-430A-87BF-5D4ED6158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77202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04  DENSITY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6BC17A8-772E-40BC-B805-9D5325C54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1015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E8908C8-876C-4AB0-ABC0-C05777F6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101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A09FA40-375F-4EE0-A380-00FBAF412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5777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05  SERVED MODE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618DE4F-DAB1-4F5C-9317-37704EB21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01015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20E1039-A934-492E-857C-BB5F37695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0101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6CFC493-DA2B-4232-8F15-16A8C6B70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05777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06  BREW RESULT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3325997-7B53-404C-A62C-D2136A98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48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8BA9455-F2E9-4095-86CB-0C985F2E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4B14766-C909-4AD1-8A5D-69459B74A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8498679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420E91-A1B3-4F90-8F1A-C5832D02E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ab5e33d11a4b4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1459FD-AC7B-4819-B1D1-96093A084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9176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16E7CA-E131-49C2-BACC-9D444340C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19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6588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5-marker">
            <a:extLst xmlns:a="http://schemas.openxmlformats.org/drawingml/2006/main">
              <a:ext uri="{FF2B5EF4-FFF2-40B4-BE49-F238E27FC236}">
                <a16:creationId xmlns:a16="http://schemas.microsoft.com/office/drawing/2014/main" id="{68956F7C-6FA8-4CCE-AF32-2ECE3200E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5-label">
            <a:extLst xmlns:a="http://schemas.openxmlformats.org/drawingml/2006/main">
              <a:ext uri="{FF2B5EF4-FFF2-40B4-BE49-F238E27FC236}">
                <a16:creationId xmlns:a16="http://schemas.microsoft.com/office/drawing/2014/main" id="{E5213D70-FE47-42F0-8047-D1C53C5DA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00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WORKFLOW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7CD248-8DB1-4D7B-850A-1F4BCBDD4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590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From Raw Signal</a:t>
            </a:r>
          </a:p>
          <a:p xmlns:a="http://schemas.openxmlformats.org/drawingml/2006/main">
            <a:pPr algn="l">
              <a:buNone/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to Brew Result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7846E1-631E-4B89-A765-757F63649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590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从原始信号到一杯信息咖啡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0CE95C-3B69-4EC4-88B3-5364CD8A6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857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8470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F7DC21-5022-4ABA-92AB-58C1028C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62200"/>
            <a:ext cx="8324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Raw Signal → Extracted Slice → Persona → Density → Served Mode → Brew Result → Label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890C7C-F495-4B76-9E6B-65725B46D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241913"/>
                </a:solidFill>
                <a:latin typeface="Aptos Mono"/>
                <a:ea typeface="Aptos Mono"/>
                <a:cs typeface="Aptos Mono"/>
              </a:defRPr>
            </a:pPr>
            <a:r>
              <a:rPr sz="1013" b="0">
                <a:solidFill>
                  <a:srgbClr val="241913"/>
                </a:solidFill>
                <a:latin typeface="Aptos Mono"/>
                <a:ea typeface="Aptos Mono"/>
                <a:cs typeface="Aptos Mono"/>
              </a:rPr>
              <a:t>Extraction + identity translation + concentration control + serving mode + packaging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8ACA00-3590-4421-A4DB-5E28CFE6E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19700"/>
            <a:ext cx="1638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7D336D-1712-4473-B4A3-F43A350B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1970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D188DC-7E74-4937-B812-28717A82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305425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RAW SIGNAL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E8E681-D799-442E-BEB3-158AF5E94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219700"/>
            <a:ext cx="1638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FE27E1-D424-4659-A2B7-7ABAB206B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21970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0008DB-9D81-405B-B9A2-CF34D5C24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305425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EXTRACTED SLICE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2E9EBB-E192-4AEA-B3A9-7B4C52F7A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219700"/>
            <a:ext cx="1638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7708C1-587C-43C6-BCA2-5E8694580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21970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6436B0-D064-45F5-AFCD-4162EBD34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305425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BREW RESULT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368D64-B876-4589-BDE6-6536C37C4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19700"/>
            <a:ext cx="1638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120C13-058C-4E6A-A2BA-1BD9EE88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1970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7E34B3-0562-4071-AD62-859352DEE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5305425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LABEL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84AA4A-C8E0-4FEA-B672-291D8C6D5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105150"/>
            <a:ext cx="914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9F0A82-732E-49CE-8196-146C02E5D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1051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78F465-BE4A-498E-973F-34F6DD29C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90875"/>
            <a:ext cx="704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4F3F15-A55B-46A0-A472-897D4C64E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105150"/>
            <a:ext cx="914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E1E78AB-3D01-4DFF-96A3-383061E9C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1051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D58A09-657D-43C1-8BAE-BFDFCE387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190875"/>
            <a:ext cx="704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DENSITY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ABC257-F392-4C90-9542-520CD1A1D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105150"/>
            <a:ext cx="1219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7EC25D-2EBB-46D2-B77B-B1CAC8AC0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1051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7466FDD-DF7C-43B7-A6AA-85FAED0F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190875"/>
            <a:ext cx="1009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SERVED MODE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B27E4B-4E74-4019-B8D1-3613D415C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57500"/>
            <a:ext cx="17526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5686"/>
            </a:srgbClr>
          </a:solidFill>
          <a:ln xmlns:a="http://schemas.openxmlformats.org/drawingml/2006/main" w="10478">
            <a:solidFill>
              <a:srgbClr val="15100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4A72CA-453F-4F55-AC7F-9BF5D028D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219450"/>
            <a:ext cx="152400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D5F6223-4320-45D2-A109-BF77833C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524250"/>
            <a:ext cx="152400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A6EDBA-1731-427C-86B8-F77CA5DA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29050"/>
            <a:ext cx="152400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FE74B13-7A0D-42DE-971F-81E6CBEF7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133850"/>
            <a:ext cx="152400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E319495-8130-4F35-B0F0-B79DD75B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438650"/>
            <a:ext cx="152400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DFE9BB9-FBF5-42A2-84AD-1C9809EA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743450"/>
            <a:ext cx="152400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F16CB10-0812-419D-8122-AA53E2E72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971800"/>
            <a:ext cx="14859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38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38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5382817-A212-4B34-B942-46CC467AD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1432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TS-042 / AI FRONTIER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0716007-EC6B-40F7-A929-F651239E5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429000"/>
            <a:ext cx="1485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Brew Result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BCEBD8D-5142-406E-B25F-1DA2348F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84810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FOR BUILDER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D17873E-93F8-4B33-A886-686AACAE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19100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TODAY'S FOCUS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42B12AE-F2E9-4074-A33C-54E69BB9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7815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63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63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BREW REGULAR / SERVED HOT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E559A45-FF76-414E-8119-4251A434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74345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9031538-2058-4E77-98AA-40936266E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CC55B36-E268-47B8-BB17-7E28C832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93CB45C-2F00-4B40-979E-650370524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469203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1F2F533-68A5-41A0-8B0D-F3D4EEFBD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04A37C70-11C7-4EE9-8E62-E714346B2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2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C84EB49A-D5B2-4868-96C6-0E01592C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62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F49440-0954-4A6F-9469-C00FE90C7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533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One Signal,</a:t>
            </a:r>
          </a:p>
          <a:p xmlns:a="http://schemas.openxmlformats.org/drawingml/2006/main">
            <a:pPr algn="l">
              <a:buNone/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Six Different Values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ED04D2-67BA-4FAE-91C2-14773C70F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8120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同一条信号，六种不同价值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30C779-CDF4-4964-B9CD-BAC30B64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1250"/>
            <a:ext cx="628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650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同一条 Raw Signal，被翻译成六种可带走的个人意义。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D43370-BEF5-4451-B4DB-F365B3F5C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24200"/>
            <a:ext cx="4000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C91C2A-8593-4C3B-8B8C-CFA4E7456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3909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5482E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B5482E"/>
                </a:solidFill>
                <a:latin typeface="Aptos Mono"/>
                <a:ea typeface="Aptos Mono"/>
                <a:cs typeface="Aptos Mono"/>
              </a:rPr>
              <a:t>RAW SIGNAL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161F02-E088-4617-B533-04C08F2F1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733800"/>
            <a:ext cx="2990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8F0E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8F0E6"/>
                </a:solidFill>
                <a:latin typeface="Aptos"/>
                <a:ea typeface="Aptos"/>
                <a:cs typeface="Aptos"/>
              </a:rPr>
              <a:t>A new model or workflow shift changes what people can learn, build, fund, design, or use.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F04681-110D-4E1D-A39E-EEE20EC3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85762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51125D-D92B-4444-A783-8B3B050D0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5762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D05865-26AB-4583-B01A-716AF2049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476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D59DEA-1BC7-43DA-8365-B4701E95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67025"/>
            <a:ext cx="4286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C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6E5354-469D-4794-B3A7-25ACDF18F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867025"/>
            <a:ext cx="4286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C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22ACEF-A23B-46DF-9744-383D3E1AB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867025"/>
            <a:ext cx="4286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C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57000E-4B3D-459B-B737-A6FDEDF6E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867025"/>
            <a:ext cx="4286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C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492C8A-C52D-48B5-A49C-043CE7BD5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228600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73527B-E45E-4BBD-BE2B-80EFBB889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43300"/>
            <a:ext cx="228600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2F859A-06BE-40F4-9577-06166281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285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6D76A7-F15B-48A0-8387-4C1821DFB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8001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63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563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9A2581-4271-4257-90F2-2C7F2AF1B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933700"/>
            <a:ext cx="1162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TS-042 / AI FRONTIER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ED780C-0372-4790-9170-D21DF5D8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21717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8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8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FOR STUDENT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C620F8-EDFF-4F87-B24C-8527E123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14700"/>
            <a:ext cx="2171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9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should I learn next?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B3DD63-84BD-4CC4-82C0-830833C1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00450"/>
            <a:ext cx="2286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TODAY'S FOCUS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25F791-0CE3-4D63-8463-026E5B3D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2286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15" b="0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15" b="0">
                <a:solidFill>
                  <a:srgbClr val="15100D"/>
                </a:solidFill>
                <a:latin typeface="Aptos"/>
                <a:ea typeface="Aptos"/>
                <a:cs typeface="Aptos"/>
              </a:rPr>
              <a:t>Pick one skill path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A47000-912B-4276-972F-73023BDE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2476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BFEC99-E5A7-4BEF-A534-0303774AF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10025"/>
            <a:ext cx="4286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C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A2AFF8-57F2-41A8-B082-02DEE2E26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10025"/>
            <a:ext cx="4286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C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20C77D-3A39-4600-8D67-3333F0109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010025"/>
            <a:ext cx="4286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C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891D76-A6C6-4F88-BF1B-2712138E7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10025"/>
            <a:ext cx="4286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C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4C7C2D5-9DE2-46A7-864A-96098028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48150"/>
            <a:ext cx="228600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3F195D-E128-4D6F-A8A7-9CE3F4DE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86300"/>
            <a:ext cx="228600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5E5177-AB10-46EE-9E45-4D101A52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52925"/>
            <a:ext cx="285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0DD3FA-6F5D-44F9-9FA5-6826BD265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76700"/>
            <a:ext cx="8001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63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563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07C3C77-25EC-4E3D-9927-04F2B3A07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076700"/>
            <a:ext cx="1162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TS-042 / AI FRONTIER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5AE3CA4-AA0D-437D-B18C-A127F52A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21717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8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8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FOR DESIGNER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07EC211-27DD-4646-A41A-AF194C2F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57700"/>
            <a:ext cx="2171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9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How will experience change?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36B179F-B4E4-4E0F-BC57-79B97E16B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2286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TODAY'S FOCUS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1397809-0757-4E1A-A7E3-6C78DF3F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2286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15" b="0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15" b="0">
                <a:solidFill>
                  <a:srgbClr val="15100D"/>
                </a:solidFill>
                <a:latin typeface="Aptos"/>
                <a:ea typeface="Aptos"/>
                <a:cs typeface="Aptos"/>
              </a:rPr>
              <a:t>Watch one UX shift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7B9E96F-9238-435D-866A-2283369DD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2476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A3A2DB-C809-4E49-8399-1E5E57AD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153025"/>
            <a:ext cx="4286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C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594C640-8BF0-42A1-B62F-B22C2A1BA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53025"/>
            <a:ext cx="4286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C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CD41C3B-2199-4C37-AC53-926CA1B3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53025"/>
            <a:ext cx="4286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C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FC4EF1C-FF3D-4994-9F8A-BEDF752B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153025"/>
            <a:ext cx="4286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C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E04DCD0-BBF1-4C53-8264-28868A83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91150"/>
            <a:ext cx="228600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F10DCEF-30E2-4EED-863A-6A0A71B3A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29300"/>
            <a:ext cx="228600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09437F6-7E53-45BD-B374-F316E129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95925"/>
            <a:ext cx="285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2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4CC4EA1-0220-46D3-A683-071BF6E4A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8001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63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563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D4EC5F1-7E47-45C0-854F-90A6D7CBF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219700"/>
            <a:ext cx="1162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TS-042 / AI FRONTIER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BC14935-13CD-415E-AA3F-AA745F498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67350"/>
            <a:ext cx="21717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8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8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FOR FOUNDER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EA72F87-BDB1-457E-8A32-C3FA4D73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00700"/>
            <a:ext cx="2171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9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Where is the opportunity?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FEF2927-5BEB-41E2-9800-0B35A8505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86450"/>
            <a:ext cx="2286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TODAY'S FOCUS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44E2E84-8659-459D-94F3-C60BB4E2E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00750"/>
            <a:ext cx="2286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15" b="0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15" b="0">
                <a:solidFill>
                  <a:srgbClr val="15100D"/>
                </a:solidFill>
                <a:latin typeface="Aptos"/>
                <a:ea typeface="Aptos"/>
                <a:cs typeface="Aptos"/>
              </a:rPr>
              <a:t>Test one market wedge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64262B1-16C3-48FF-9CF6-8ABAA3F0F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57500"/>
            <a:ext cx="2476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5BBA223-D697-4CE5-B8D6-BEAF17416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867025"/>
            <a:ext cx="4286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C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0099647-4D57-4AEF-B427-18F53205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67025"/>
            <a:ext cx="4286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C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FB07270-CE1E-49B2-A89D-C6F461E2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867025"/>
            <a:ext cx="4286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C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446A938-EF48-4966-AF1B-2531C565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2867025"/>
            <a:ext cx="4286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C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ED0FFA8-561C-4AA4-8295-8F3A0AD5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105150"/>
            <a:ext cx="228600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367F120-6CC2-4EBB-85D8-50A0E6AC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543300"/>
            <a:ext cx="228600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3A181EA-5D6A-4216-9084-0B0E21BF2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209925"/>
            <a:ext cx="285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D753203-5163-426A-B4C5-EFF6BC96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933700"/>
            <a:ext cx="8001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63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563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2DA2802-8170-48FA-9511-A4EBFEC8C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933700"/>
            <a:ext cx="1162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TS-042 / AI FRONTIER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375EDE4-D707-4303-9CAA-7737FD06A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81350"/>
            <a:ext cx="21717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8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8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FOR BUILDER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701A935-C99E-4336-A6E6-3E5B1EEFE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314700"/>
            <a:ext cx="2171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9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can I build with this?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019018F-1383-4660-9453-A622A4CA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00450"/>
            <a:ext cx="2286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TODAY'S FOCUS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ED4C58B-CC55-4F3F-8461-C77D2D4F5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714750"/>
            <a:ext cx="2286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15" b="0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15" b="0">
                <a:solidFill>
                  <a:srgbClr val="15100D"/>
                </a:solidFill>
                <a:latin typeface="Aptos"/>
                <a:ea typeface="Aptos"/>
                <a:cs typeface="Aptos"/>
              </a:rPr>
              <a:t>Find one human edge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43BC2D8-3668-42A2-AB4B-9C4FB2E8A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00500"/>
            <a:ext cx="2476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71D49C1-FEA9-4811-8F3F-524A7DC71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010025"/>
            <a:ext cx="4286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C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8C0DA86-DABE-46E6-BD48-4B4CD987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10025"/>
            <a:ext cx="4286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C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8F21916-142E-4717-AF64-62B3C9B73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010025"/>
            <a:ext cx="4286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C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62B17BD-9184-401F-96E3-40497F742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010025"/>
            <a:ext cx="4286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C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96B3904-4EF8-476B-819D-305821F5E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48150"/>
            <a:ext cx="228600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A5D9AEF-0DF4-43B5-8097-2EA0766B8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686300"/>
            <a:ext cx="228600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4D0009E-34F1-4CFF-BFBB-F315A6D28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352925"/>
            <a:ext cx="285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94CEDBD-D73A-432C-B508-2DA8887FC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76700"/>
            <a:ext cx="8001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63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563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1A75104-6C9A-483A-AE06-4B2F9EC2B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076700"/>
            <a:ext cx="1162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TS-042 / AI FRONTIER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0BE5C6A-D8A3-43AC-945A-5371C078C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324350"/>
            <a:ext cx="21717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8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8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FOR VC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79DD873-7D8F-45E0-9DE0-3D3445723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457700"/>
            <a:ext cx="2171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9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market shift is happening?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95BC1C3-FD55-4A18-B995-265B8960A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43450"/>
            <a:ext cx="2286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TODAY'S FOCUS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0DCCE0D-4F06-4EBB-8C98-1A36E98E3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857750"/>
            <a:ext cx="2286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15" b="0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15" b="0">
                <a:solidFill>
                  <a:srgbClr val="15100D"/>
                </a:solidFill>
                <a:latin typeface="Aptos"/>
                <a:ea typeface="Aptos"/>
                <a:cs typeface="Aptos"/>
              </a:rPr>
              <a:t>Keep one verifiable signal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8BC3AB9-62FF-4DDF-8EB8-8BB260603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143500"/>
            <a:ext cx="2476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B57CDE7-2E51-4E07-B6E3-3EA25680E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53025"/>
            <a:ext cx="4286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C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B7E6C4A-C4A7-40CB-BBF9-2F7DE9C62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153025"/>
            <a:ext cx="4286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C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23C1BB7-9B48-4CDA-A309-76EB17E97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153025"/>
            <a:ext cx="4286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C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F540106-7F11-48AF-93CC-C12504269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5153025"/>
            <a:ext cx="4286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C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2D51F1A-94F7-4001-B7C4-088B06FAD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391150"/>
            <a:ext cx="228600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7C639A0-54F2-4F8E-ABBE-74B5A4BD0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829300"/>
            <a:ext cx="228600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413009D-17EC-43A5-8E43-873A193A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495925"/>
            <a:ext cx="285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1AFC5EC-C5B8-4615-A9BF-79D6AEBED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219700"/>
            <a:ext cx="8001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63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563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7C9F732-75C5-4356-BB26-9882F04A3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5219700"/>
            <a:ext cx="1162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TS-042 / AI FRONTIER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261E355-FFE1-45D0-A43A-5F10A457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5467350"/>
            <a:ext cx="21717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8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8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FOR EVERYDAY PERSON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6C5C23AA-574B-4BB4-9C02-BC4BB1887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5600700"/>
            <a:ext cx="2171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9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does this mean for my life?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CB161E51-1A1F-4712-9770-9EB987962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886450"/>
            <a:ext cx="2286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TODAY'S FOCUS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E3051EB-A5A5-40CE-BE12-3603D8D05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6000750"/>
            <a:ext cx="2286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15" b="0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15" b="0">
                <a:solidFill>
                  <a:srgbClr val="15100D"/>
                </a:solidFill>
                <a:latin typeface="Aptos"/>
                <a:ea typeface="Aptos"/>
                <a:cs typeface="Aptos"/>
              </a:rPr>
              <a:t>Choose one daily implication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48077A09-3878-43C5-A782-16D35CA5E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933950"/>
            <a:ext cx="4991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F9F0501-A318-4203-A96D-D030965B6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04825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5482E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B5482E"/>
                </a:solidFill>
                <a:latin typeface="Aptos Mono"/>
                <a:ea typeface="Aptos Mono"/>
                <a:cs typeface="Aptos Mono"/>
              </a:rPr>
              <a:t>Not shorter information.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CA8BF647-C212-4CC0-AF8E-EFC02C17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257800"/>
            <a:ext cx="4343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The value is translating the same change into different personal meanings.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BE71D3D-4807-4C79-B8FD-02AF04831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78D1DD7E-4D7B-4753-A6A2-BB9854BA9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6AD6741D-E949-45F1-BEC3-61E9D5E42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0553671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08CD87-2A5F-4727-94C4-2425FADF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CE6322E8-1E7A-4044-AA40-CA08A115F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2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F31664A6-B075-4A7B-9C78-89B67C847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62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TECHNOLOGY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C050F6-DFE2-437F-81A9-CDA9F3DDD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5905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Live Signal First,</a:t>
            </a:r>
          </a:p>
          <a:p xmlns:a="http://schemas.openxmlformats.org/drawingml/2006/main">
            <a:pPr algn="l">
              <a:buNone/>
              <a:defRPr sz="30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Demo-Safe Fallback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BE03C7-851A-45BD-A8CA-06027FBD1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76450"/>
            <a:ext cx="514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rPr>
              <a:t>实时信号优先，演示稳定兜底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EA0910-3E8C-48FB-AE83-51B9027A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533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8F0E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8F0E6"/>
                </a:solidFill>
                <a:latin typeface="Aptos"/>
                <a:ea typeface="Aptos"/>
                <a:cs typeface="Aptos"/>
              </a:rPr>
              <a:t>Designed for real-time Grok / X signal ingestion.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8F0E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8F0E6"/>
                </a:solidFill>
                <a:latin typeface="Aptos"/>
                <a:ea typeface="Aptos"/>
                <a:cs typeface="Aptos"/>
              </a:rPr>
              <a:t>Backed by a curated xAI / Grok signal bank for stable hackathon demos.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CF7631-3B37-4CF1-9838-890E74857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533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DBFA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CDBFAE"/>
                </a:solidFill>
                <a:latin typeface="Microsoft YaHei UI"/>
                <a:ea typeface="Microsoft YaHei UI"/>
                <a:cs typeface="Microsoft YaHei UI"/>
              </a:rPr>
              <a:t>首选接入实时 Grok / X 信息流；现场演示使用预置 xAI / Grok signal bank 作为稳定兜底。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BB0D51-FCF6-432C-90C3-FE46DAB02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31623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12383">
            <a:solidFill>
              <a:srgbClr val="5F514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0A5762-E279-4553-8B3B-7BA4F2241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FC6517-83C4-49D7-9662-886FDA607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9525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0CE03A-5BCE-4480-9ED1-5E4470930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2647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3BA7A1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3BA7A1"/>
                </a:solidFill>
                <a:latin typeface="Aptos Mono"/>
                <a:ea typeface="Aptos Mono"/>
                <a:cs typeface="Aptos Mono"/>
              </a:rPr>
              <a:t>PRIMARY PRODUCT MODE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155F10-2B1C-464C-BF16-DE904AEB8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2647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125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Live Signal Stream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393B37-A90D-4060-B9EC-E4D3AA38A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24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078130-06EA-4E85-A5F2-15B50DFB6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24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8E2811-0865-4EBC-8A19-D13B9555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196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Designed for Grok / X API ingestion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82CBDC-CF97-4097-A059-53C6D5AA2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B7447D-9A10-45B4-A712-A268E987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DC4641-BC41-4887-A63A-57F2B3C03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74345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Target live signal stream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F66EF0-027F-436C-B415-41A064E3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3D259A-8E7B-4F96-9834-70BA860D9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D2B629-5239-461E-B54B-2DFAC0317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673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Dynamic information shelves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29C6B5-39BA-4E9B-8DBD-4231B0382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43880A-79BF-4D03-9A9D-92AAC5846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C8BB24-56D8-4D57-85C9-7737D166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9115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Fresh raw signals from today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0DCD59-95DA-4DCB-91FF-A3EC4BDBB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14700"/>
            <a:ext cx="31623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12383">
            <a:solidFill>
              <a:srgbClr val="5F514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E3B683-3ABE-4987-9C82-929235850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147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31AEB6-2704-46E6-9EDB-AF7FDDC9C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14700"/>
            <a:ext cx="9525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FB3681-70F3-482E-A7ED-99C518C7A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448050"/>
            <a:ext cx="2647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B5482E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B5482E"/>
                </a:solidFill>
                <a:latin typeface="Aptos Mono"/>
                <a:ea typeface="Aptos Mono"/>
                <a:cs typeface="Aptos Mono"/>
              </a:rPr>
              <a:t>SAME BREWING PIPELINE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E5D8D5-8503-4EA2-996B-95A09899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600450"/>
            <a:ext cx="2647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125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One pipeline for both inputs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6137CA-E571-4E95-A77C-30D33B0D9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576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6B35549-C245-4DAD-9D20-905742B7D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576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DB862C5-077B-45AD-90DE-C11CFB528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1148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Extracted Slice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6DA71C8-F54C-4E3D-B171-0DF5E345E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815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4F4AEC8-116A-4652-ABD2-81EEC459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815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1E277D3-426D-4361-A4F9-C012C7EF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43865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Persona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6B1A630-22E2-4E4B-B969-4087A0E9E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7053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F8C48C7-1C58-47B5-A9CB-D339CB5B9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7053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710A992-31FE-43E9-9B57-EEB66084E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7625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Density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CF16427-DF2D-4856-919C-32C141243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0292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3CD314-5D41-425A-A110-86A35696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0292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FE4184D-B9D6-4F0C-AF6D-7409C6D4C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08635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Served Hot / Iced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671338D-1EE7-426C-8EAF-618803ABB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3530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8B90039-4D2D-48FC-BA5D-4E864C02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3530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AA55FFE-76E2-4206-AB1C-E3ADE3DFB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4102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Brew Result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274CF08-103F-42C3-8CBC-943D024D1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6769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B01C967-528C-4AB8-A9CB-ECB99A4E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6769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B3DAA5C-7C86-425D-BE9B-EE327E8D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73405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Label / Pick Up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9F72A7F-C01B-442C-B5BC-B56BC9B6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19500"/>
            <a:ext cx="31623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12383">
            <a:solidFill>
              <a:srgbClr val="5F5147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9EEF285-5E03-4D5C-8D5A-C2A57D9BA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195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1EFCC6F-AF8B-45F3-B48A-E60051A85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19500"/>
            <a:ext cx="9525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2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A7AE683-385C-42AB-8734-5F5F77FE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752850"/>
            <a:ext cx="2647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8F321F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8F321F"/>
                </a:solidFill>
                <a:latin typeface="Aptos Mono"/>
                <a:ea typeface="Aptos Mono"/>
                <a:cs typeface="Aptos Mono"/>
              </a:rPr>
              <a:t>DEMO-SAFE FALLBACK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4694B69-65E2-4267-B44B-77E451AF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905250"/>
            <a:ext cx="2647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125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Curated Signal Bank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0A74C1D-522A-4871-9C09-C67AD7D37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3624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5C4AB46-439F-498B-8589-BC3B2792F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3624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2DF1D90-A165-4079-A894-67BFE2A14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4196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Preloaded xAI / Grok signals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0399357-3266-4FC3-BF33-F437775EB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6863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2345731-FCD9-4A7A-B7C5-01B359B34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6863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5581F80-246A-4919-B944-0DB37538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74345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6 shelves × 9 raw signals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94B7E89-AA39-4006-BC34-BF23AFD67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0101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9F080D4-7853-46B5-BBEC-3817DDCAD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0101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F957AAA-04E7-4E92-AE65-D6D717CB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0673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No network / API risk on stage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C5B8130-6A3D-4A68-BF60-40196D2E1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3340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B2B0EEB-152F-4F40-B432-45EBDD4AD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3340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8B087AB-5C0C-4238-B727-6E10717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39115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Same output experience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D72E343-7D2D-4666-983F-C05E8022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572000"/>
            <a:ext cx="742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DF5BC77-C1F6-4C9C-A5BB-A747C70A6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72000"/>
            <a:ext cx="742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2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EAF3FFA-59DD-4CA6-A8C4-C68D358C2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362450"/>
            <a:ext cx="400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CDBFAE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CDBFAE"/>
                </a:solidFill>
                <a:latin typeface="Aptos Mono"/>
                <a:ea typeface="Aptos Mono"/>
                <a:cs typeface="Aptos Mono"/>
              </a:rPr>
              <a:t>input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82E20C2-43DA-469A-8721-AE3E00117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362450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CDBFAE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CDBFAE"/>
                </a:solidFill>
                <a:latin typeface="Aptos Mono"/>
                <a:ea typeface="Aptos Mono"/>
                <a:cs typeface="Aptos Mono"/>
              </a:rPr>
              <a:t>fallback input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F71B79D-507F-41DB-8A0C-00477C8CF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48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A614434-A2A5-4C70-B0F4-4F2DC776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0A1C3DE-FC75-4425-BAC2-F9E6DB59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7366955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543E50-7DD4-4E39-8281-B00B9C839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90ee08cada436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8AD052-DA4E-4D74-8D07-564E3A044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191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9176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336E86-0A21-4EA5-8A80-5B287E10D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12ABE66F-7272-49CE-B11D-5616B4AE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36394975-7A4F-4E1C-8171-4B88D4AA1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34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CLOSING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8A2797-1089-4675-AB52-BC0BDCE00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3000"/>
            <a:ext cx="51244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Don’t Read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the Age.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Drink 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7CC723-C7EC-4765-BDB3-51C37D7F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743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80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不要只是阅读时代，把它喝下去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22C415-35C1-44E1-86C0-CA3AEE792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295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1913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241913"/>
                </a:solidFill>
                <a:latin typeface="Aptos Mono"/>
                <a:ea typeface="Aptos Mono"/>
                <a:cs typeface="Aptos Mono"/>
              </a:rPr>
              <a:t>order → extract → personalize → brew →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241913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241913"/>
                </a:solidFill>
                <a:latin typeface="Aptos Mono"/>
                <a:ea typeface="Aptos Mono"/>
                <a:cs typeface="Aptos Mono"/>
              </a:rPr>
              <a:t>label → pick up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321B72-1364-45F5-95C5-28DC3CDF9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5800"/>
            <a:ext cx="2857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Time Slice Coffee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让人们不只是刷到信息，而是带走一杯属于自己的时代切片。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890CBE-F3AC-4582-A448-BC13EC1C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638550"/>
            <a:ext cx="20383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902"/>
            </a:srgbClr>
          </a:solidFill>
          <a:ln xmlns:a="http://schemas.openxmlformats.org/drawingml/2006/main" w="10478">
            <a:solidFill>
              <a:srgbClr val="15100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BA2CE3-19A9-449F-9973-83DA1F08F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962400"/>
            <a:ext cx="18097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46C416-C107-4C22-AD7C-20845471B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257675"/>
            <a:ext cx="18097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558B34-700D-4A6B-9B1A-D730EE820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552950"/>
            <a:ext cx="18097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A6458B-07AC-45C4-B547-DF4AAB11F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848225"/>
            <a:ext cx="18097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F3BEEE-45BC-4019-B370-9381765F1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143500"/>
            <a:ext cx="18097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6AFCD9-61B1-4E4F-ABF7-EE129B9C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438775"/>
            <a:ext cx="18097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EFEFE9-3DEE-4A6E-8266-EEF623AD0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752850"/>
            <a:ext cx="17716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38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38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6FABB6-C579-434F-BAFA-425BB2C3E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943350"/>
            <a:ext cx="17716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PICK UP / AI FRONTIER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C3396E-48DB-41F9-B869-55EC7D55B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248150"/>
            <a:ext cx="17716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FOR BUILDER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BE357C-E94A-4C5B-82C2-F1C99A58D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4767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125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What it means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F838CD-9971-45BB-821F-CDF307F02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838700"/>
            <a:ext cx="17716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TODAY'S FOCUS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492AA2-42EE-4E5E-879D-478B6F28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5657850"/>
            <a:ext cx="17716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5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5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BREW REGULAR / SERVED ICED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A42B46-906D-48B7-B8F0-0A1C2ED9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6388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B2BA00-2B67-482F-9992-442F7DB82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990850"/>
            <a:ext cx="137160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BFF8D2-A2AB-4369-8DE3-645E8E04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048000"/>
            <a:ext cx="12573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3725"/>
            </a:srgbClr>
          </a:solidFill>
          <a:ln xmlns:a="http://schemas.openxmlformats.org/drawingml/2006/main" w="7620">
            <a:solidFill>
              <a:srgbClr val="15100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194EA1-F2E1-4110-9597-10B34A238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143250"/>
            <a:ext cx="1104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A40524-745F-4824-AC12-D3A8C70F3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295650"/>
            <a:ext cx="11049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8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48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TS-042 / AI FRONTIER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6A82DF-D824-4FC1-9E85-298588A5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486150"/>
            <a:ext cx="1104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F8AF4A9-A0E2-4F59-BBC9-326CF8033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695700"/>
            <a:ext cx="1104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FF87EF-EA11-44D7-B07C-44099B9CB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905250"/>
            <a:ext cx="1104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A5C65BE-C274-4263-9270-D2A16FB32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114800"/>
            <a:ext cx="1104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C22C618-2493-4DC0-99D8-C7B137415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581400"/>
            <a:ext cx="11049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9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49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FOR BUILDER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6EACDBE-2FCA-4845-92F4-538E1EAC4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981450"/>
            <a:ext cx="11049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6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46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TODAY'S FOCUS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2D33DDA-8AEF-497B-93EA-D6572A483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010150"/>
            <a:ext cx="95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A379AB3-0D3E-4DBE-A9BD-317788C22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219450"/>
            <a:ext cx="10668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1E4A9A4-34BC-466B-9DE4-8F376E7DA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276600"/>
            <a:ext cx="9525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3725"/>
            </a:srgbClr>
          </a:solidFill>
          <a:ln xmlns:a="http://schemas.openxmlformats.org/drawingml/2006/main" w="7620">
            <a:solidFill>
              <a:srgbClr val="15100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0EC5FAC-AA77-42E5-999E-E2B44E90C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371850"/>
            <a:ext cx="8001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28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428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78E441F-52B9-4E54-B3E0-983F067BC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524250"/>
            <a:ext cx="8001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39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TS-058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7F3A80A-6718-4DA5-BDA6-0894E56AF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714750"/>
            <a:ext cx="8001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5BD3A60-8F34-474D-B6A4-FD76E693A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876675"/>
            <a:ext cx="8001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AD0588-4FDA-4B77-905C-52A460DD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38600"/>
            <a:ext cx="8001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7535610-BC34-470B-8658-E1BF69149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200525"/>
            <a:ext cx="8001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CEFE752-B394-4826-8F60-6DE6CAB1F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771900"/>
            <a:ext cx="8001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13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413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FOR VC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65B940B-45C0-482F-8AAF-1C78C59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38600"/>
            <a:ext cx="8001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7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397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FOCUS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CF7F732-1F05-4974-8350-9F9CDE993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819650"/>
            <a:ext cx="666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E0804C3-E3BC-4185-B4CD-945FA6378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9700"/>
            <a:ext cx="295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你今日 fo 了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mo？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30CD63E-9185-43EB-BB33-31A0529AF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D3FFDD8-EEB1-4167-854A-B4CD3B8CC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BC2190C-5C57-4135-AE4E-54C77D8D0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407330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2026-05-30T16:50:02.4550000Z</dcterms:created>
  <dcterms:modified xsi:type="dcterms:W3CDTF">2026-05-30T16:50:02.4550000Z</dcterms:modified>
</coreProperties>
</file>
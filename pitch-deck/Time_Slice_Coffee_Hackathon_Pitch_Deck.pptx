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81fe8b7c4e4fda" /><Relationship Type="http://schemas.openxmlformats.org/officeDocument/2006/relationships/extended-properties" Target="/docProps/app.xml" Id="Rf4798a603ba5468e" /><Relationship Type="http://schemas.openxmlformats.org/officeDocument/2006/relationships/officeDocument" Target="/ppt/presentation.xml" Id="R906881cca53740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dc8e4883e34a83"/>
  </p:sldMasterIdLst>
  <p:notesMasterIdLst>
    <p:notesMasterId xmlns:r="http://schemas.openxmlformats.org/officeDocument/2006/relationships" r:id="Rdab488d10ce24936"/>
  </p:notesMasterIdLst>
  <p:sldIdLst>
    <p:sldId xmlns:r="http://schemas.openxmlformats.org/officeDocument/2006/relationships" id="256" r:id="Recd093a4eb544e87"/>
    <p:sldId xmlns:r="http://schemas.openxmlformats.org/officeDocument/2006/relationships" id="257" r:id="R5b8e8b36b6a74566"/>
    <p:sldId xmlns:r="http://schemas.openxmlformats.org/officeDocument/2006/relationships" id="258" r:id="Ra7b5fc641fd44092"/>
    <p:sldId xmlns:r="http://schemas.openxmlformats.org/officeDocument/2006/relationships" id="259" r:id="R04a6dbdc62ae4400"/>
    <p:sldId xmlns:r="http://schemas.openxmlformats.org/officeDocument/2006/relationships" id="260" r:id="Ra15d91ef26764e2d"/>
    <p:sldId xmlns:r="http://schemas.openxmlformats.org/officeDocument/2006/relationships" id="261" r:id="R2d6c9ea0d8bf4909"/>
    <p:sldId xmlns:r="http://schemas.openxmlformats.org/officeDocument/2006/relationships" id="262" r:id="R436fe7ed70204210"/>
    <p:sldId xmlns:r="http://schemas.openxmlformats.org/officeDocument/2006/relationships" id="263" r:id="R3e9f713c46dc48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c8e4883e34a83" /><Relationship Type="http://schemas.openxmlformats.org/officeDocument/2006/relationships/theme" Target="/ppt/theme/theme1.xml" Id="R532b4622692d4359" /><Relationship Type="http://schemas.openxmlformats.org/officeDocument/2006/relationships/notesMaster" Target="/ppt/notesMasters/notesMaster1.xml" Id="Rdab488d10ce24936" /><Relationship Type="http://schemas.openxmlformats.org/officeDocument/2006/relationships/presProps" Target="/ppt/presProps.xml" Id="Ra975b432001f4d58" /><Relationship Type="http://schemas.openxmlformats.org/officeDocument/2006/relationships/viewProps" Target="/ppt/viewProps.xml" Id="R3572146c72e441ff" /><Relationship Type="http://schemas.openxmlformats.org/officeDocument/2006/relationships/tableStyles" Target="/ppt/tableStyles.xml" Id="R6cfd07a1c2df41bd" /><Relationship Type="http://schemas.openxmlformats.org/officeDocument/2006/relationships/slide" Target="/ppt/slides/slide1.xml" Id="Recd093a4eb544e87" /><Relationship Type="http://schemas.openxmlformats.org/officeDocument/2006/relationships/slide" Target="/ppt/slides/slide2.xml" Id="R5b8e8b36b6a74566" /><Relationship Type="http://schemas.openxmlformats.org/officeDocument/2006/relationships/slide" Target="/ppt/slides/slide3.xml" Id="Ra7b5fc641fd44092" /><Relationship Type="http://schemas.openxmlformats.org/officeDocument/2006/relationships/slide" Target="/ppt/slides/slide4.xml" Id="R04a6dbdc62ae4400" /><Relationship Type="http://schemas.openxmlformats.org/officeDocument/2006/relationships/slide" Target="/ppt/slides/slide5.xml" Id="Ra15d91ef26764e2d" /><Relationship Type="http://schemas.openxmlformats.org/officeDocument/2006/relationships/slide" Target="/ppt/slides/slide6.xml" Id="R2d6c9ea0d8bf4909" /><Relationship Type="http://schemas.openxmlformats.org/officeDocument/2006/relationships/slide" Target="/ppt/slides/slide7.xml" Id="R436fe7ed70204210" /><Relationship Type="http://schemas.openxmlformats.org/officeDocument/2006/relationships/slide" Target="/ppt/slides/slide8.xml" Id="R3e9f713c46dc48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8201eb7f9574a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37d4e31dab482e" /><Relationship Type="http://schemas.openxmlformats.org/officeDocument/2006/relationships/notesMaster" Target="/ppt/notesMasters/notesMaster1.xml" Id="R946a4c5c618743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d96af38836480b" /><Relationship Type="http://schemas.openxmlformats.org/officeDocument/2006/relationships/notesMaster" Target="/ppt/notesMasters/notesMaster1.xml" Id="Rcd9616acb2e14c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94487a02234e3c" /><Relationship Type="http://schemas.openxmlformats.org/officeDocument/2006/relationships/notesMaster" Target="/ppt/notesMasters/notesMaster1.xml" Id="R4c700754fbff4a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654163fd054008" /><Relationship Type="http://schemas.openxmlformats.org/officeDocument/2006/relationships/notesMaster" Target="/ppt/notesMasters/notesMaster1.xml" Id="Re223fd4037ae4b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a405919e934da6" /><Relationship Type="http://schemas.openxmlformats.org/officeDocument/2006/relationships/notesMaster" Target="/ppt/notesMasters/notesMaster1.xml" Id="R1d789db9671844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4595f97af040a8" /><Relationship Type="http://schemas.openxmlformats.org/officeDocument/2006/relationships/notesMaster" Target="/ppt/notesMasters/notesMaster1.xml" Id="Rd31657fbfd024d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221c96e56642d1" /><Relationship Type="http://schemas.openxmlformats.org/officeDocument/2006/relationships/notesMaster" Target="/ppt/notesMasters/notesMaster1.xml" Id="R37bedd0cb46745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7914e3bd0b4af0" /><Relationship Type="http://schemas.openxmlformats.org/officeDocument/2006/relationships/notesMaster" Target="/ppt/notesMasters/notesMaster1.xml" Id="Rdb5c452074114f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c9a43eb5014b5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faf8989cc35434c" /><Relationship Type="http://schemas.openxmlformats.org/officeDocument/2006/relationships/slideLayout" Target="/ppt/slideLayouts/slideLayout2.xml" Id="R38fda85fd60346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fda85fd60346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9789efc3564b60" /><Relationship Type="http://schemas.openxmlformats.org/officeDocument/2006/relationships/image" Target="/ppt/media/image.png" Id="R3feed4a31cc44737" /><Relationship Type="http://schemas.openxmlformats.org/officeDocument/2006/relationships/notesSlide" Target="/ppt/notesSlides/notesSlide1.xml" Id="Rdcefe5f0842c48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1279accfa849fd" /><Relationship Type="http://schemas.openxmlformats.org/officeDocument/2006/relationships/image" Target="/ppt/media/image2.png" Id="R4ee90672c2444a7e" /><Relationship Type="http://schemas.openxmlformats.org/officeDocument/2006/relationships/notesSlide" Target="/ppt/notesSlides/notesSlide2.xml" Id="R23b02f836daf40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d2648907444177" /><Relationship Type="http://schemas.openxmlformats.org/officeDocument/2006/relationships/notesSlide" Target="/ppt/notesSlides/notesSlide3.xml" Id="R5b71915787424d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d12b31a5d041cd" /><Relationship Type="http://schemas.openxmlformats.org/officeDocument/2006/relationships/notesSlide" Target="/ppt/notesSlides/notesSlide4.xml" Id="R7733b75b35cb42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3cda8027084e42" /><Relationship Type="http://schemas.openxmlformats.org/officeDocument/2006/relationships/image" Target="/ppt/media/image3.png" Id="R428fe2ca958d4211" /><Relationship Type="http://schemas.openxmlformats.org/officeDocument/2006/relationships/notesSlide" Target="/ppt/notesSlides/notesSlide5.xml" Id="Rf326dea49d0b43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451011782f491f" /><Relationship Type="http://schemas.openxmlformats.org/officeDocument/2006/relationships/notesSlide" Target="/ppt/notesSlides/notesSlide6.xml" Id="R2fa3d69b017948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02aa406eb34f11" /><Relationship Type="http://schemas.openxmlformats.org/officeDocument/2006/relationships/notesSlide" Target="/ppt/notesSlides/notesSlide7.xml" Id="Rc832eeafffa141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ac4700e14249bb" /><Relationship Type="http://schemas.openxmlformats.org/officeDocument/2006/relationships/image" Target="/ppt/media/image4.png" Id="R99ee7c094bce46a5" /><Relationship Type="http://schemas.openxmlformats.org/officeDocument/2006/relationships/notesSlide" Target="/ppt/notesSlides/notesSlide8.xml" Id="Rdd6015154bfc40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966B11-3632-417E-B727-06E20E35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ed4a31cc4473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01DE7-B555-4B30-86D5-13DCB8F4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E6">
              <a:alpha val="9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DA17C-772A-4115-A229-379960FC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5FCF9216-B203-4CC1-8604-527D56DC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B45C6F75-9B22-4147-B826-013367AF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HACKATHON PITCH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581EA-5490-4FD5-ADC8-6421BC4B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4762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5100D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15100D"/>
                </a:solidFill>
                <a:latin typeface="Georgia"/>
                <a:ea typeface="Georgia"/>
                <a:cs typeface="Georgia"/>
              </a:rPr>
              <a:t>Time Slice</a:t>
            </a:r>
          </a:p>
          <a:p xmlns:a="http://schemas.openxmlformats.org/drawingml/2006/main">
            <a:pPr algn="l">
              <a:defRPr sz="4650" b="1">
                <a:solidFill>
                  <a:srgbClr val="15100D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15100D"/>
                </a:solidFill>
                <a:latin typeface="Georgia"/>
                <a:ea typeface="Georgia"/>
                <a:cs typeface="Georgia"/>
              </a:rPr>
              <a:t>Coffee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0A4BF-0CD0-48B3-874B-B52C6613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476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548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625" b="1">
                <a:solidFill>
                  <a:srgbClr val="B5482E"/>
                </a:solidFill>
                <a:latin typeface="Microsoft YaHei UI"/>
                <a:ea typeface="Microsoft YaHei UI"/>
                <a:cs typeface="Microsoft YaHei UI"/>
              </a:rPr>
              <a:t>你今日 fo 了 mo？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F4189-1429-4EFE-9443-C639F403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68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91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241913"/>
                </a:solidFill>
                <a:latin typeface="Microsoft YaHei UI"/>
                <a:ea typeface="Microsoft YaHei UI"/>
                <a:cs typeface="Microsoft YaHei UI"/>
              </a:rPr>
              <a:t>把今天真正重要的一则变化，</a:t>
            </a:r>
          </a:p>
          <a:p xmlns:a="http://schemas.openxmlformats.org/drawingml/2006/main">
            <a:pPr algn="l">
              <a:defRPr sz="1725" b="0">
                <a:solidFill>
                  <a:srgbClr val="24191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241913"/>
                </a:solidFill>
                <a:latin typeface="Microsoft YaHei UI"/>
                <a:ea typeface="Microsoft YaHei UI"/>
                <a:cs typeface="Microsoft YaHei UI"/>
              </a:rPr>
              <a:t>装进一杯咖啡里。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B209E-2905-484C-9E8D-B46027A9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667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3335">
            <a:solidFill>
              <a:srgbClr val="15100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B85C1-D027-4AEC-ACC0-0B0552CF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F4CB1-6A74-4C39-921D-60D03605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65354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1" b="1">
                <a:solidFill>
                  <a:srgbClr val="F8F0E6"/>
                </a:solidFill>
                <a:latin typeface="Aptos"/>
                <a:ea typeface="Aptos"/>
                <a:cs typeface="Aptos"/>
              </a:defRPr>
            </a:pPr>
            <a:r>
              <a:rPr sz="1071" b="1">
                <a:solidFill>
                  <a:srgbClr val="F8F0E6"/>
                </a:solidFill>
                <a:latin typeface="Aptos"/>
                <a:ea typeface="Aptos"/>
                <a:cs typeface="Aptos"/>
              </a:rPr>
              <a:t>TODAY'S</a:t>
            </a:r>
          </a:p>
          <a:p xmlns:a="http://schemas.openxmlformats.org/drawingml/2006/main">
            <a:pPr algn="l">
              <a:defRPr sz="1071" b="1">
                <a:solidFill>
                  <a:srgbClr val="F8F0E6"/>
                </a:solidFill>
                <a:latin typeface="Aptos"/>
                <a:ea typeface="Aptos"/>
                <a:cs typeface="Aptos"/>
              </a:defRPr>
            </a:pPr>
            <a:r>
              <a:rPr sz="1071" b="1">
                <a:solidFill>
                  <a:srgbClr val="F8F0E6"/>
                </a:solidFill>
                <a:latin typeface="Aptos"/>
                <a:ea typeface="Aptos"/>
                <a:cs typeface="Aptos"/>
              </a:rPr>
              <a:t>INFORMATION SLICE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07AF2-DD4E-4BD1-816C-DC2C9ED4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19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444CC-51AD-48C1-819E-9A17A70F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387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8F0E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8F0E6"/>
                </a:solidFill>
                <a:latin typeface="Aptos Mono"/>
                <a:ea typeface="Aptos Mono"/>
                <a:cs typeface="Aptos Mono"/>
              </a:rPr>
              <a:t>TS-001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DB6E5-DD16-4AAB-9A0C-ABE90E9A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B5F6B-AFC0-4A3A-AB53-B12B61F3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90678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C8175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8C8175"/>
                </a:solidFill>
                <a:latin typeface="Aptos Mono"/>
                <a:ea typeface="Aptos Mono"/>
                <a:cs typeface="Aptos Mono"/>
              </a:rPr>
              <a:t>SHELF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BFB2D-3361-4807-90BC-D0B492CC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" y="5162550"/>
            <a:ext cx="14935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100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00D"/>
                </a:solidFill>
                <a:latin typeface="Aptos"/>
                <a:ea typeface="Aptos"/>
                <a:cs typeface="Aptos"/>
              </a:rPr>
              <a:t>AI FRONTIER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76933-1BBA-450D-8A63-E6150F8B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87B70-67FC-454E-B78D-A7298533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9725"/>
            <a:ext cx="90678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C8175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8C8175"/>
                </a:solidFill>
                <a:latin typeface="Aptos Mono"/>
                <a:ea typeface="Aptos Mono"/>
                <a:cs typeface="Aptos Mono"/>
              </a:rPr>
              <a:t>IDENTITY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B0BFCC-049F-4378-AFB2-7C360D32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" y="5391150"/>
            <a:ext cx="14935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100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00D"/>
                </a:solidFill>
                <a:latin typeface="Aptos"/>
                <a:ea typeface="Aptos"/>
                <a:cs typeface="Aptos"/>
              </a:rPr>
              <a:t>BUILDER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83446-AD58-4109-A6F1-1480FE24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70C11-0197-42DE-A6B0-DDB1A0E4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864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1D6F16-5EAD-44E2-81FB-23391B96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864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6E5F4-94A5-43D3-BF61-B16AFB98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FC9B33-5E62-4F13-8617-0E93FBBF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864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AC5C0-722A-4FBA-8446-645B9109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864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C35F2D-D41A-47ED-8A17-73E3C6E8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864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1EEE5E-FB25-423F-88BC-C67DCE4E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864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EDFCE-0276-47F0-BE8F-2B03EC90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864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75853D-0A97-4810-8490-8BDB94BA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BAE1C8-C004-4F2C-A9BC-BE03A8F5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864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8854B7-36A6-4584-94E1-8F5AD6D9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864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D77142-B780-4F51-9AB7-0AB0FEE1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864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4C9287-05DF-4A1F-8F35-DF9AA829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864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F21969-C997-4ECB-87DF-12B40D71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864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B24ABD-030D-4C8F-BF82-3299DB42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48300"/>
            <a:ext cx="171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EABF92-F5D1-45A0-9271-60FEE6C9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1771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191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1913"/>
                </a:solidFill>
                <a:latin typeface="Aptos"/>
                <a:ea typeface="Aptos"/>
                <a:cs typeface="Aptos"/>
              </a:rPr>
              <a:t>Not another AI SaaS.</a:t>
            </a:r>
          </a:p>
          <a:p xmlns:a="http://schemas.openxmlformats.org/drawingml/2006/main">
            <a:pPr algn="l">
              <a:defRPr sz="1050" b="0">
                <a:solidFill>
                  <a:srgbClr val="24191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1913"/>
                </a:solidFill>
                <a:latin typeface="Aptos"/>
                <a:ea typeface="Aptos"/>
                <a:cs typeface="Aptos"/>
              </a:rPr>
              <a:t>An information consumer product for the AI age.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BAEF5C-7EB0-43DA-9952-62D713C6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9465E0-AEA7-4E4D-90A4-B95DB465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C817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C8175"/>
                </a:solidFill>
                <a:latin typeface="Aptos Mono"/>
                <a:ea typeface="Aptos Mono"/>
                <a:cs typeface="Aptos Mono"/>
              </a:rPr>
              <a:t>TIME SLICE COFFEE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005707-5C85-4D39-857A-E77FDB14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10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C817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C8175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571577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C9DE47-8B5B-474E-9E70-A0B446A3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90672c2444a7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5FEF1-CBD6-4CC1-BD1B-8EFC49BE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>
              <a:alpha val="9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04895-E131-4D84-8047-98287D2C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E175434B-7EBC-4E4F-AAFC-2E0456B7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2E61899C-0169-42A7-A137-471A8CF2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F0E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8F0E6"/>
                </a:solidFill>
                <a:latin typeface="Aptos Mono"/>
                <a:ea typeface="Aptos Mono"/>
                <a:cs typeface="Aptos Mono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EB416-2B80-4E74-B06F-99AD60DD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0E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8F0E6"/>
                </a:solidFill>
                <a:latin typeface="Georgia"/>
                <a:ea typeface="Georgia"/>
                <a:cs typeface="Georgia"/>
              </a:rPr>
              <a:t>Every Signal</a:t>
            </a:r>
          </a:p>
          <a:p xmlns:a="http://schemas.openxmlformats.org/drawingml/2006/main">
            <a:pPr algn="l">
              <a:defRPr sz="3300" b="1">
                <a:solidFill>
                  <a:srgbClr val="F8F0E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8F0E6"/>
                </a:solidFill>
                <a:latin typeface="Georgia"/>
                <a:ea typeface="Georgia"/>
                <a:cs typeface="Georgia"/>
              </a:rPr>
              <a:t>Pretends to Matter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CC556-C48D-461F-AB07-B3C54899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CDB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D8CDBE"/>
                </a:solidFill>
                <a:latin typeface="Microsoft YaHei UI"/>
                <a:ea typeface="Microsoft YaHei UI"/>
                <a:cs typeface="Microsoft YaHei UI"/>
              </a:rPr>
              <a:t>每一条信息都装作自己很重要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5B0E5-8577-4D35-8FEB-02DDE9D0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4648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0E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F8F0E6"/>
                </a:solidFill>
                <a:latin typeface="Microsoft YaHei UI"/>
                <a:ea typeface="Microsoft YaHei UI"/>
                <a:cs typeface="Microsoft YaHei UI"/>
              </a:rPr>
              <a:t>AI 时代的问题不是信息不够，</a:t>
            </a:r>
          </a:p>
          <a:p xmlns:a="http://schemas.openxmlformats.org/drawingml/2006/main">
            <a:pPr algn="l">
              <a:defRPr sz="1725" b="0">
                <a:solidFill>
                  <a:srgbClr val="F8F0E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F8F0E6"/>
                </a:solidFill>
                <a:latin typeface="Microsoft YaHei UI"/>
                <a:ea typeface="Microsoft YaHei UI"/>
                <a:cs typeface="Microsoft YaHei UI"/>
              </a:rPr>
              <a:t>而是每天都有太多数据信号在制造 FOMO。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2C22F-A7C1-4D25-937F-5AB015B3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03F57-CAC1-44C1-8892-903DD1CC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3962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CDB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CDBE"/>
                </a:solidFill>
                <a:latin typeface="Aptos"/>
                <a:ea typeface="Aptos"/>
                <a:cs typeface="Aptos"/>
              </a:rPr>
              <a:t>People fear missing out, falling behind, or being replaced. The pressure comes from too many signals pretending to be urgent.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0A887-8A00-4FFE-8512-E798531A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895350"/>
            <a:ext cx="1752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>
              <a:alpha val="65882"/>
            </a:srgbClr>
          </a:solidFill>
          <a:ln xmlns:a="http://schemas.openxmlformats.org/drawingml/2006/main" w="9525">
            <a:solidFill>
              <a:srgbClr val="6B5748"/>
            </a:solidFill>
            <a:prstDash val="solid"/>
          </a:ln>
        </p:spPr>
        <p:txBody>
          <a:bodyPr xmlns:a="http://schemas.openxmlformats.org/drawingml/2006/main" lIns="114300" tIns="114300" rIns="114300" bIns="1143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0E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8F0E6"/>
                </a:solidFill>
                <a:latin typeface="Aptos Mono"/>
                <a:ea typeface="Aptos Mono"/>
                <a:cs typeface="Aptos Mono"/>
              </a:rPr>
              <a:t>AI UPDATE</a:t>
            </a:r>
          </a:p>
          <a:p xmlns:a="http://schemas.openxmlformats.org/drawingml/2006/main">
            <a:pPr algn="l">
              <a:defRPr sz="975" b="1">
                <a:solidFill>
                  <a:srgbClr val="F8F0E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8F0E6"/>
                </a:solidFill>
                <a:latin typeface="Aptos Mono"/>
                <a:ea typeface="Aptos Mono"/>
                <a:cs typeface="Aptos Mono"/>
              </a:rPr>
              <a:t>MARKET ALERT</a:t>
            </a:r>
          </a:p>
          <a:p xmlns:a="http://schemas.openxmlformats.org/drawingml/2006/main">
            <a:pPr algn="l">
              <a:defRPr sz="975" b="1">
                <a:solidFill>
                  <a:srgbClr val="F8F0E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8F0E6"/>
                </a:solidFill>
                <a:latin typeface="Aptos Mono"/>
                <a:ea typeface="Aptos Mono"/>
                <a:cs typeface="Aptos Mono"/>
              </a:rPr>
              <a:t>WORKFLOW SHIFT</a:t>
            </a:r>
          </a:p>
          <a:p xmlns:a="http://schemas.openxmlformats.org/drawingml/2006/main">
            <a:pPr algn="l">
              <a:defRPr sz="975" b="1">
                <a:solidFill>
                  <a:srgbClr val="F8F0E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8F0E6"/>
                </a:solidFill>
                <a:latin typeface="Aptos Mono"/>
                <a:ea typeface="Aptos Mono"/>
                <a:cs typeface="Aptos Mono"/>
              </a:rPr>
              <a:t>MODEL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23862-EE3D-4284-961D-58779833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4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391AD-F6D4-4438-9E82-613677D9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EB4A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EB4A8"/>
                </a:solidFill>
                <a:latin typeface="Aptos Mono"/>
                <a:ea typeface="Aptos Mono"/>
                <a:cs typeface="Aptos Mono"/>
              </a:rPr>
              <a:t>TIME SLICE COFFEE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3D0AB-62F6-47D7-B68F-5F6D5D67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10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EB4A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EB4A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6445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89BB5-3F33-4A43-ABE6-CA04A556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6E1A0145-5A60-4E18-8090-AFA50976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1A27C1D9-428A-40D5-B99B-A0FADCEA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INSIGHT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A3CD8-10F1-465F-BA90-F3988CD0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90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00D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5100D"/>
                </a:solidFill>
                <a:latin typeface="Georgia"/>
                <a:ea typeface="Georgia"/>
                <a:cs typeface="Georgia"/>
              </a:rPr>
              <a:t>Understanding</a:t>
            </a:r>
          </a:p>
          <a:p xmlns:a="http://schemas.openxmlformats.org/drawingml/2006/main">
            <a:pPr algn="l">
              <a:defRPr sz="3300" b="1">
                <a:solidFill>
                  <a:srgbClr val="15100D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5100D"/>
                </a:solidFill>
                <a:latin typeface="Georgia"/>
                <a:ea typeface="Georgia"/>
                <a:cs typeface="Georgia"/>
              </a:rPr>
              <a:t>Becomes a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B3191-CAD5-4FC1-BD43-5B5E3B3B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48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B5482E"/>
                </a:solidFill>
                <a:latin typeface="Microsoft YaHei UI"/>
                <a:ea typeface="Microsoft YaHei UI"/>
                <a:cs typeface="Microsoft YaHei UI"/>
              </a:rPr>
              <a:t>理解，正在变成一种消费品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00068-E252-494D-9CC4-D8B76702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2291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rPr>
              <a:t>过去，</a:t>
            </a:r>
          </a:p>
          <a:p xmlns:a="http://schemas.openxmlformats.org/drawingml/2006/main">
            <a:pPr algn="l">
              <a:defRPr sz="2025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rPr>
              <a:t>人们买水是为了解渴。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rPr>
              <a:t>后来，</a:t>
            </a:r>
          </a:p>
          <a:p xmlns:a="http://schemas.openxmlformats.org/drawingml/2006/main">
            <a:pPr algn="l">
              <a:defRPr sz="2025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rPr>
              <a:t>人们购买品牌、身份和生活方式。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rPr>
              <a:t>而 AI 时代，</a:t>
            </a:r>
          </a:p>
          <a:p xmlns:a="http://schemas.openxmlformats.org/drawingml/2006/main">
            <a:pPr algn="l">
              <a:defRPr sz="2025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rPr>
              <a:t>人们开始购买：</a:t>
            </a:r>
          </a:p>
          <a:p xmlns:a="http://schemas.openxmlformats.org/drawingml/2006/main">
            <a:pPr algn="l">
              <a:defRPr sz="2025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rPr>
              <a:t>对这个时代的理解。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B3DFB-1681-4675-98F3-5609D58B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506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CAE14-BD4F-43C6-A6AD-4F5F1475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193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AE140-D894-4215-BC2E-27DE9676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0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3446C-117A-4B01-A79B-696AA05F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14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9E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F9EF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ED7CB-0EA1-4E20-AD72-D66A6983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623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00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100D"/>
                </a:solidFill>
                <a:latin typeface="Georgia"/>
                <a:ea typeface="Georgia"/>
                <a:cs typeface="Georgia"/>
              </a:rPr>
              <a:t>Water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F1956-4A31-4BE6-9B31-8F635B8A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48050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解渴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C7390-EBD5-4C56-BBC1-AE39DB41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82322-4578-4F15-BEB9-3BAA6EC5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0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2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15E50-3B83-4C51-8CC6-2ADFF1D3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14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9E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F9EF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EAEC7-C8DE-4301-8B3E-F17B9978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623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00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100D"/>
                </a:solidFill>
                <a:latin typeface="Georgia"/>
                <a:ea typeface="Georgia"/>
                <a:cs typeface="Georgia"/>
              </a:rPr>
              <a:t>Brand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29859-BFD8-4956-874A-D4E1AB63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48050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身份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F09AFA-9873-469E-ACCC-55241B07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193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003BF-EE4A-40F3-88EB-B38704A0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09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3D77D-75E2-4624-B73B-C77C9C39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14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9E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F9EF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0AA6E-18B8-48DD-86D3-FB73F515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623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00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100D"/>
                </a:solidFill>
                <a:latin typeface="Georgia"/>
                <a:ea typeface="Georgia"/>
                <a:cs typeface="Georgia"/>
              </a:rPr>
              <a:t>Coffee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82E136-0B20-4C97-83B4-B78CEFC3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48050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生活方式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A3B023-2471-41C9-B67F-B75CBC7D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672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19A1E0-47BF-4961-A0E4-3B6BE717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577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3494DC-B721-49C9-A781-F96DDB22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624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9E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F9EF"/>
                </a:solidFill>
                <a:latin typeface="Microsoft YaHei UI"/>
                <a:ea typeface="Microsoft YaHei UI"/>
                <a:cs typeface="Microsoft YaHei U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6DC869-8241-4814-84BA-F85ADF62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101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00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5100D"/>
                </a:solidFill>
                <a:latin typeface="Georgia"/>
                <a:ea typeface="Georgia"/>
                <a:cs typeface="Georgia"/>
              </a:rPr>
              <a:t>Info Coffee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9B677F-4608-41AD-91FD-0DB89208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95900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时代理解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936CE3-B369-4293-A908-F80EF935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384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853B50-3A6B-467B-A1CE-9347FADE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6863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3A58A8-0F86-43B3-BD2E-8F4F4051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657850"/>
            <a:ext cx="504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191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1913"/>
                </a:solidFill>
                <a:latin typeface="Aptos"/>
                <a:ea typeface="Aptos"/>
                <a:cs typeface="Aptos"/>
              </a:rPr>
              <a:t>People no longer only consume content.</a:t>
            </a:r>
          </a:p>
          <a:p xmlns:a="http://schemas.openxmlformats.org/drawingml/2006/main">
            <a:pPr algn="l">
              <a:defRPr sz="1500" b="0">
                <a:solidFill>
                  <a:srgbClr val="24191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1913"/>
                </a:solidFill>
                <a:latin typeface="Aptos"/>
                <a:ea typeface="Aptos"/>
                <a:cs typeface="Aptos"/>
              </a:rPr>
              <a:t>They consume packaged understanding.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997AA4-3682-4E7A-BCBF-C4ACC3D5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ED2D1A-4B00-4C32-9A9D-E4340C91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C817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C8175"/>
                </a:solidFill>
                <a:latin typeface="Aptos Mono"/>
                <a:ea typeface="Aptos Mono"/>
                <a:cs typeface="Aptos Mono"/>
              </a:rPr>
              <a:t>TIME SLICE COFFEE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0B6E8E-4B48-4E2C-9AAF-EE40ACB1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10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C817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C8175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066311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CF08FC-0FE1-479A-BD66-9B273373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6CC6AF88-DA9F-4FDB-B504-C52EF282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D5EB3D0A-0FF2-454F-BADA-44154119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F0E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8F0E6"/>
                </a:solidFill>
                <a:latin typeface="Aptos Mono"/>
                <a:ea typeface="Aptos Mono"/>
                <a:cs typeface="Aptos Mono"/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B3124-F862-4797-86CF-9617F670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4171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0E6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8F0E6"/>
                </a:solidFill>
                <a:latin typeface="Georgia"/>
                <a:ea typeface="Georgia"/>
                <a:cs typeface="Georgia"/>
              </a:rPr>
              <a:t>An Information</a:t>
            </a:r>
          </a:p>
          <a:p xmlns:a="http://schemas.openxmlformats.org/drawingml/2006/main">
            <a:pPr algn="l">
              <a:defRPr sz="3150" b="1">
                <a:solidFill>
                  <a:srgbClr val="F8F0E6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8F0E6"/>
                </a:solidFill>
                <a:latin typeface="Georgia"/>
                <a:ea typeface="Georgia"/>
                <a:cs typeface="Georgia"/>
              </a:rPr>
              <a:t>Coffee Bar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8155B-06C4-48ED-B8DF-0970E447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171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0E6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8F0E6"/>
                </a:solidFill>
                <a:latin typeface="Georgia"/>
                <a:ea typeface="Georgia"/>
                <a:cs typeface="Georgia"/>
              </a:rPr>
              <a:t>for the AI 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C8E06-5122-4FC9-A00D-D4EC29F3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CDB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D8CDBE"/>
                </a:solidFill>
                <a:latin typeface="Microsoft YaHei UI"/>
                <a:ea typeface="Microsoft YaHei UI"/>
                <a:cs typeface="Microsoft YaHei UI"/>
              </a:rPr>
              <a:t>AI 时代的信息咖啡吧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DBB07-D8B6-4718-B89F-DB8482D9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629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0E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F8F0E6"/>
                </a:solidFill>
                <a:latin typeface="Microsoft YaHei UI"/>
                <a:ea typeface="Microsoft YaHei UI"/>
                <a:cs typeface="Microsoft YaHei UI"/>
              </a:rPr>
              <a:t>Time Slice Coffee 把真实信息流中的重要变化，</a:t>
            </a:r>
          </a:p>
          <a:p xmlns:a="http://schemas.openxmlformats.org/drawingml/2006/main">
            <a:pPr algn="l">
              <a:defRPr sz="1725" b="0">
                <a:solidFill>
                  <a:srgbClr val="F8F0E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F8F0E6"/>
                </a:solidFill>
                <a:latin typeface="Microsoft YaHei UI"/>
                <a:ea typeface="Microsoft YaHei UI"/>
                <a:cs typeface="Microsoft YaHei UI"/>
              </a:rPr>
              <a:t>萃取成不同身份可理解、可带走的时代信息切片咖啡。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17FFC-F33C-4A2C-A537-562EE844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C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CDBE"/>
                </a:solidFill>
                <a:latin typeface="Aptos"/>
                <a:ea typeface="Aptos"/>
                <a:cs typeface="Aptos"/>
              </a:rPr>
              <a:t>We turn reading information into ordering a cup.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2EF10-1161-47D9-92CA-5C073942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742950"/>
            <a:ext cx="533400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E6"/>
          </a:solidFill>
          <a:ln xmlns:a="http://schemas.openxmlformats.org/drawingml/2006/main" w="19050">
            <a:solidFill>
              <a:srgbClr val="6B57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52F5E-E915-4584-AC98-B18E0EA6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74295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9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B1794-3930-482D-AD4A-AC25A932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52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0E6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8F0E6"/>
                </a:solidFill>
                <a:latin typeface="Aptos Mono"/>
                <a:ea typeface="Aptos Mono"/>
                <a:cs typeface="Aptos Mono"/>
              </a:rPr>
              <a:t>TODAY'S MENU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529B5-5308-4417-A82D-CB869F56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009650"/>
            <a:ext cx="2324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DBFA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DBFAE"/>
                </a:solidFill>
                <a:latin typeface="Aptos Mono"/>
                <a:ea typeface="Aptos Mono"/>
                <a:cs typeface="Aptos Mono"/>
              </a:rPr>
              <a:t>6 shelves × identity × density × 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5942E-586A-4E4F-B23E-6EBE77DE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95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C4C90-FF09-4B8F-A91E-2311D0CF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954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C63FB-9BDB-4336-9178-5276595B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7716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00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00D"/>
                </a:solidFill>
                <a:latin typeface="Aptos"/>
                <a:ea typeface="Aptos"/>
                <a:cs typeface="Aptos"/>
              </a:rPr>
              <a:t>AI Frontier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AB696-1FA6-4938-AECD-91218BF1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96215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817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8C8175"/>
                </a:solidFill>
                <a:latin typeface="Microsoft YaHei UI"/>
                <a:ea typeface="Microsoft YaHei UI"/>
                <a:cs typeface="Microsoft YaHei UI"/>
              </a:rPr>
              <a:t>AI 前沿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3C84B-06CA-423F-8991-7AAD19D6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B8F63-47E9-46CE-8A6C-8781B5B1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11CE6-3230-471F-8FBF-DD18DA35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716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00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00D"/>
                </a:solidFill>
                <a:latin typeface="Aptos"/>
                <a:ea typeface="Aptos"/>
                <a:cs typeface="Aptos"/>
              </a:rPr>
              <a:t>Build &amp;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956F4-6CC1-4754-9588-D10FCA3D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817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8C8175"/>
                </a:solidFill>
                <a:latin typeface="Microsoft YaHei UI"/>
                <a:ea typeface="Microsoft YaHei UI"/>
                <a:cs typeface="Microsoft YaHei UI"/>
              </a:rPr>
              <a:t>构建工作流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2B8752-733F-44EF-8337-DD66E3B6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0B24F-1F07-4DC0-8FF4-CBAA525C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75DEA1-47F4-459C-B074-CA68DAC1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955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00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00D"/>
                </a:solidFill>
                <a:latin typeface="Aptos"/>
                <a:ea typeface="Aptos"/>
                <a:cs typeface="Aptos"/>
              </a:rPr>
              <a:t>Design &amp; Creation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3C26E-FF23-4ECD-ADEA-4DE5948A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8605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817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8C8175"/>
                </a:solidFill>
                <a:latin typeface="Microsoft YaHei UI"/>
                <a:ea typeface="Microsoft YaHei UI"/>
                <a:cs typeface="Microsoft YaHei UI"/>
              </a:rPr>
              <a:t>设计创作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5DF93-AE97-47C3-966C-26ACC957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77BBD6-B723-4F7A-9EDE-EA01FAEC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6CBD91-3B5E-4E31-BBCF-3E80640A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955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00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00D"/>
                </a:solidFill>
                <a:latin typeface="Aptos"/>
                <a:ea typeface="Aptos"/>
                <a:cs typeface="Aptos"/>
              </a:rPr>
              <a:t>Market &amp; Capital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17875F-0252-4AFF-A494-217637AB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8605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817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8C8175"/>
                </a:solidFill>
                <a:latin typeface="Microsoft YaHei UI"/>
                <a:ea typeface="Microsoft YaHei UI"/>
                <a:cs typeface="Microsoft YaHei UI"/>
              </a:rPr>
              <a:t>市场资本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5D4FCF-7411-49E1-A407-14C1F3C0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432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4E7264-2EE6-479C-90C7-5329A2D1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432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41D4F4-2DE5-4429-83EC-0E933E6E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2194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00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00D"/>
                </a:solidFill>
                <a:latin typeface="Aptos"/>
                <a:ea typeface="Aptos"/>
                <a:cs typeface="Aptos"/>
              </a:rPr>
              <a:t>Self Upgrade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7EF4D9-05DA-4E9E-A1F7-5D58A011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40995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817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8C8175"/>
                </a:solidFill>
                <a:latin typeface="Microsoft YaHei UI"/>
                <a:ea typeface="Microsoft YaHei UI"/>
                <a:cs typeface="Microsoft YaHei UI"/>
              </a:rPr>
              <a:t>自我升级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0B0684-3E54-4FBF-A697-ACE131A4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A1CC43-B482-4C0A-9A54-91806DBF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EA47A5-8199-4FB8-9828-90DF4A6D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194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00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00D"/>
                </a:solidFill>
                <a:latin typeface="Aptos"/>
                <a:ea typeface="Aptos"/>
                <a:cs typeface="Aptos"/>
              </a:rPr>
              <a:t>Life Signals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B70752-746A-4DE5-A2D6-3153666B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0995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817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8C8175"/>
                </a:solidFill>
                <a:latin typeface="Microsoft YaHei UI"/>
                <a:ea typeface="Microsoft YaHei UI"/>
                <a:cs typeface="Microsoft YaHei UI"/>
              </a:rPr>
              <a:t>生活信号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323818-8F1B-4E26-8C2E-87F2A0A8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386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482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5482E"/>
                </a:solidFill>
                <a:latin typeface="Aptos Mono"/>
                <a:ea typeface="Aptos Mono"/>
                <a:cs typeface="Aptos Mono"/>
              </a:rPr>
              <a:t>ORDER LAYERS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8B0B36-30B3-401E-8903-22C4E2E3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24350"/>
            <a:ext cx="4457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E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B5A506-4F02-4752-BF10-55EB08C9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243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8A4F16-7F47-460A-A365-3FB19D66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Student / Builder / Designer / Founder / VC / Everyday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3495D4-B7FA-4169-A266-CF634F77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053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E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4338EB-7E40-4BC2-ACCF-6578CA16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053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7ABDA7-D955-4A61-86B1-6C16E6B7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201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Light / Regular / Double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5ABDD8-4F3C-450A-BEED-7212A806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053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E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144D94-BF3A-40B7-BB64-015E35D6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053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FE9915-1ED4-445C-BE45-645F2AB8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625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Served Hot / Served Iced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6896E4-07FD-4469-83DD-E6C6C28D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4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292177-96E0-42B1-BEAE-D14E4BEE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EB4A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EB4A8"/>
                </a:solidFill>
                <a:latin typeface="Aptos Mono"/>
                <a:ea typeface="Aptos Mono"/>
                <a:cs typeface="Aptos Mono"/>
              </a:rPr>
              <a:t>TIME SLICE COFFEE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47C12F-A8C7-4276-9E63-4A7BA5DB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10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EB4A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EB4A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54650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B529B9-BFB1-4EB0-AFCF-1B6B646C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fe2ca958d421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1DBDF-CECC-4A0B-A2A9-E769E3F3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E6">
              <a:alpha val="9176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BE2FE-2043-41F5-98FA-0B28D508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E6">
              <a:alpha val="6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68122E34-48D4-4CC2-874F-814A6E3B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99AB493F-8691-482F-82AC-7401B41F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2FCAB-8D38-4575-8E47-AA40FF9E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590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00D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5100D"/>
                </a:solidFill>
                <a:latin typeface="Georgia"/>
                <a:ea typeface="Georgia"/>
                <a:cs typeface="Georgia"/>
              </a:rPr>
              <a:t>From Raw Signal</a:t>
            </a:r>
          </a:p>
          <a:p xmlns:a="http://schemas.openxmlformats.org/drawingml/2006/main">
            <a:pPr algn="l">
              <a:defRPr sz="3300" b="1">
                <a:solidFill>
                  <a:srgbClr val="15100D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5100D"/>
                </a:solidFill>
                <a:latin typeface="Georgia"/>
                <a:ea typeface="Georgia"/>
                <a:cs typeface="Georgia"/>
              </a:rPr>
              <a:t>to Brew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BEE86-0AA4-4400-83DB-5DC83A21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48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B5482E"/>
                </a:solidFill>
                <a:latin typeface="Microsoft YaHei UI"/>
                <a:ea typeface="Microsoft YaHei UI"/>
                <a:cs typeface="Microsoft YaHei UI"/>
              </a:rPr>
              <a:t>从原始信号到一杯信息咖啡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D8268-854E-495C-A071-A5BA8485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805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E6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0BA9D-D617-4B44-AE3F-5E12CCB6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Raw Signal → Extracted Slice → Persona → Density → Served Mode → Brew Result →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C51FA-57C7-4EB2-B3A6-96F6CF83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>
              <a:alpha val="94118"/>
            </a:srgbClr>
          </a:solidFill>
          <a:ln xmlns:a="http://schemas.openxmlformats.org/drawingml/2006/main" w="9525">
            <a:solidFill>
              <a:srgbClr val="15100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42F09-D62C-42F2-961F-1AA9597D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57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F8C5B-010D-404B-A405-D00149D8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05425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RAW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3E083-23AA-4ACB-A7B6-4A8EE86C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197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>
              <a:alpha val="94118"/>
            </a:srgbClr>
          </a:solidFill>
          <a:ln xmlns:a="http://schemas.openxmlformats.org/drawingml/2006/main" w="9525">
            <a:solidFill>
              <a:srgbClr val="15100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441A9-EF50-4581-8302-D7587CBB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19700"/>
            <a:ext cx="57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763BE-8A6D-4A75-A8C8-56F09545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05425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EXTRACTED SLICE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2E8B3-62B1-440E-8CCB-89DFCBD9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197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>
              <a:alpha val="94118"/>
            </a:srgbClr>
          </a:solidFill>
          <a:ln xmlns:a="http://schemas.openxmlformats.org/drawingml/2006/main" w="9525">
            <a:solidFill>
              <a:srgbClr val="15100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11CE3-AE03-456C-A8B5-2E6FD3C7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19700"/>
            <a:ext cx="57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1B7E30-7BF0-4B0E-9CF7-4550DE42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05425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BREW 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82454-ADB5-4D9A-96E9-9D359036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197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>
              <a:alpha val="94118"/>
            </a:srgbClr>
          </a:solidFill>
          <a:ln xmlns:a="http://schemas.openxmlformats.org/drawingml/2006/main" w="9525">
            <a:solidFill>
              <a:srgbClr val="15100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B100A-07AC-4C0F-9F3A-7E1ACE0D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19700"/>
            <a:ext cx="57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CB870-6E9A-4CF7-A965-5ABB82BD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305425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LABEL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68961-4C42-40D4-9AD9-4E9ABE6C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18859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3335">
            <a:solidFill>
              <a:srgbClr val="15100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2450B-1811-4A94-9908-FCDEE463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1885950" cy="4484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752E81-D491-4DA4-B1B4-7BD1D589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71800"/>
            <a:ext cx="1169289" cy="334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1" b="1">
                <a:solidFill>
                  <a:srgbClr val="F8F0E6"/>
                </a:solidFill>
                <a:latin typeface="Aptos"/>
                <a:ea typeface="Aptos"/>
                <a:cs typeface="Aptos"/>
              </a:defRPr>
            </a:pPr>
            <a:r>
              <a:rPr sz="1201" b="1">
                <a:solidFill>
                  <a:srgbClr val="F8F0E6"/>
                </a:solidFill>
                <a:latin typeface="Aptos"/>
                <a:ea typeface="Aptos"/>
                <a:cs typeface="Aptos"/>
              </a:rPr>
              <a:t>TODAY'S</a:t>
            </a:r>
          </a:p>
          <a:p xmlns:a="http://schemas.openxmlformats.org/drawingml/2006/main">
            <a:pPr algn="l">
              <a:defRPr sz="1201" b="1">
                <a:solidFill>
                  <a:srgbClr val="F8F0E6"/>
                </a:solidFill>
                <a:latin typeface="Aptos"/>
                <a:ea typeface="Aptos"/>
                <a:cs typeface="Aptos"/>
              </a:defRPr>
            </a:pPr>
            <a:r>
              <a:rPr sz="1201" b="1">
                <a:solidFill>
                  <a:srgbClr val="F8F0E6"/>
                </a:solidFill>
                <a:latin typeface="Aptos"/>
                <a:ea typeface="Aptos"/>
                <a:cs typeface="Aptos"/>
              </a:rPr>
              <a:t>SLICE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80E0B8-22F0-432D-B18C-F821A036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90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1CB6D5-62CD-45FC-A838-BFDE7265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24987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BC2787-AC81-45E8-BC60-DEDEC057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10712"/>
            <a:ext cx="64122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C8175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8C8175"/>
                </a:solidFill>
                <a:latin typeface="Aptos Mono"/>
                <a:ea typeface="Aptos Mono"/>
                <a:cs typeface="Aptos Mono"/>
              </a:rPr>
              <a:t>FOCUS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0B9DB-6DD9-444C-9CEB-ACAC62C6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8642" y="3382137"/>
            <a:ext cx="105613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100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00D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7C68C7-396A-44C2-A96B-7326B650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83508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D20732-5781-4719-90A3-9DC55BA7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69233"/>
            <a:ext cx="64122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C8175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8C8175"/>
                </a:solidFill>
                <a:latin typeface="Aptos Mono"/>
                <a:ea typeface="Aptos Mono"/>
                <a:cs typeface="Aptos Mono"/>
              </a:rPr>
              <a:t>VALUE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9C7C1F-7775-42CC-9BE1-B8C272F0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8642" y="3740658"/>
            <a:ext cx="105613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100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00D"/>
                </a:solidFill>
                <a:latin typeface="Aptos"/>
                <a:ea typeface="Aptos"/>
                <a:cs typeface="Aptos"/>
              </a:rPr>
              <a:t>FOR 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1D3932-9056-4184-BA26-CF58148B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42029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4B2B44-7E4E-4A9B-B30D-CDF23095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27754"/>
            <a:ext cx="64122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C8175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8C8175"/>
                </a:solidFill>
                <a:latin typeface="Aptos Mono"/>
                <a:ea typeface="Aptos Mono"/>
                <a:cs typeface="Aptos Mono"/>
              </a:rPr>
              <a:t>MARK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345A97-A180-4A81-9355-32104B65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8642" y="4099179"/>
            <a:ext cx="105613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100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00D"/>
                </a:solidFill>
                <a:latin typeface="Aptos"/>
                <a:ea typeface="Aptos"/>
                <a:cs typeface="Aptos"/>
              </a:rPr>
              <a:t>TAKE AWAY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BCB9E9-51F7-48D6-AF3B-463FB9C4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910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62A897-A4D8-4254-81FD-B85579C4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910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682994-227A-45C0-90AB-786C056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910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8C70AD-D950-4312-ACAD-4F5BC3C1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910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5BC0F1-3E0A-4339-A6F0-994F17DF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910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B9F9D1-A01B-453B-8250-270B0F2E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910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D500FD-8E8D-469C-B1CC-E0D63AB4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910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49D2BF-86BB-440D-85B8-30CE5C51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910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693965-88B6-4015-8DC8-310689EF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910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DF79B4-22DF-453B-A405-C808BB0A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910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6B2550-515A-4676-886D-56791004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910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6AF589-8627-42C3-8757-CB3EA32C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910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394DF5-48CF-4CF6-BDBB-B1B89E16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910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AE533C-1062-4567-976B-8BD9D344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5910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5BD0C2-BA36-4765-905B-719B032B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5910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937420-FF97-4D73-866F-BEDEAD8B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52950"/>
            <a:ext cx="171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AFBF0D-794E-47F1-801E-F1AB2000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1D59A2-4437-4397-AE5B-FEB61A31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C817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C8175"/>
                </a:solidFill>
                <a:latin typeface="Aptos Mono"/>
                <a:ea typeface="Aptos Mono"/>
                <a:cs typeface="Aptos Mono"/>
              </a:rPr>
              <a:t>TIME SLICE COFFEE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67246C-CAE1-465A-9ACE-B38A29C2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10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C817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C8175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07945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8CC35C-4870-4043-97EA-11E89817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7359C867-7D5D-46A8-8977-5A761957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137B560F-2A2E-4736-8E75-3CA6037A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96B75-9BFC-4B74-8664-A28DA527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00D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5100D"/>
                </a:solidFill>
                <a:latin typeface="Georgia"/>
                <a:ea typeface="Georgia"/>
                <a:cs typeface="Georgia"/>
              </a:rPr>
              <a:t>One Signal,</a:t>
            </a:r>
          </a:p>
          <a:p xmlns:a="http://schemas.openxmlformats.org/drawingml/2006/main">
            <a:pPr algn="l">
              <a:defRPr sz="3300" b="1">
                <a:solidFill>
                  <a:srgbClr val="15100D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5100D"/>
                </a:solidFill>
                <a:latin typeface="Georgia"/>
                <a:ea typeface="Georgia"/>
                <a:cs typeface="Georgia"/>
              </a:rPr>
              <a:t>Six Different Values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7643D-F2A7-4DBF-97A4-79188375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48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B5482E"/>
                </a:solidFill>
                <a:latin typeface="Microsoft YaHei UI"/>
                <a:ea typeface="Microsoft YaHei UI"/>
                <a:cs typeface="Microsoft YaHei UI"/>
              </a:rPr>
              <a:t>同一条信号，六种不同价值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8F112-D551-45EC-A7C7-509991CD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628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91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241913"/>
                </a:solidFill>
                <a:latin typeface="Microsoft YaHei UI"/>
                <a:ea typeface="Microsoft YaHei UI"/>
                <a:cs typeface="Microsoft YaHei UI"/>
              </a:rPr>
              <a:t>同一条 Raw Signal，对六种身份产生六种不同价值。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79ACB-8DCE-4500-8136-E9FBDE44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3028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9525">
            <a:solidFill>
              <a:srgbClr val="1510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34FB6-7CFB-4B59-88BA-ABB24603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482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B5482E"/>
                </a:solidFill>
                <a:latin typeface="Aptos Mono"/>
                <a:ea typeface="Aptos Mono"/>
                <a:cs typeface="Aptos Mono"/>
              </a:rPr>
              <a:t>RAW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DA6D6-A4C0-43CE-A60C-E382F94F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2343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0E6"/>
                </a:solidFill>
                <a:latin typeface="Aptos"/>
                <a:ea typeface="Aptos"/>
                <a:cs typeface="Aptos"/>
              </a:rPr>
              <a:t>A new model or workflow shift changes what people can learn, build, fund, design, or 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3C039-1533-44C4-8410-ADC80E9D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338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CDBB1-DEE1-476F-A8DE-C005B770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004" y="2962275"/>
            <a:ext cx="6217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454F7-C9D4-4CB2-A241-3A80980B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868" y="3105150"/>
            <a:ext cx="51206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15100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6CE24-C2D6-48C4-A9B0-7AAC1C1B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876" y="3290697"/>
            <a:ext cx="384048" cy="214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7620">
            <a:solidFill>
              <a:srgbClr val="15100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B75D1-9468-411F-8BD0-94826050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876" y="3290697"/>
            <a:ext cx="38404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BD565-0D08-4EC2-A9BC-EA89C18A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452" y="3407093"/>
            <a:ext cx="12801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A41C7-4622-4116-83A3-1CC27B64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452" y="3460813"/>
            <a:ext cx="20116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99157-D9C7-44A9-A6CE-2DCE1B74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628" y="3371279"/>
            <a:ext cx="36576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CF4E3-BFF7-40E8-B74B-1B75F357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862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rPr>
              <a:t>Student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67AD3-72A0-4862-921E-F9C47DBD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004" y="2962275"/>
            <a:ext cx="6217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A9A0A6-1B15-4D8F-9287-58C6FBDC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5868" y="3105150"/>
            <a:ext cx="51206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15100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ED8752-C299-4327-BC85-84427E74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876" y="3290697"/>
            <a:ext cx="384048" cy="214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7620">
            <a:solidFill>
              <a:srgbClr val="15100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8A7803-5281-4ACF-9813-AC237965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876" y="3290697"/>
            <a:ext cx="38404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169D2-E2C2-4B01-935A-66A12334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452" y="3407093"/>
            <a:ext cx="12801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9B446A-44E9-4B4A-8EDE-A8633EC7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452" y="3460813"/>
            <a:ext cx="20116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0CDB4D-78D4-4924-A479-22ABB34D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628" y="3371279"/>
            <a:ext cx="36576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19FC0F-A3A8-4EF2-8B92-1BA4A714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rPr>
              <a:t>Builder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D0E804-6C39-42EB-99AF-E7058D13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04" y="2962275"/>
            <a:ext cx="6217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D559AB-A27E-4965-8982-C828098E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868" y="3105150"/>
            <a:ext cx="51206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15100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E42AF0-DE07-4494-AB67-527CBDCC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876" y="3290697"/>
            <a:ext cx="384048" cy="214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7620">
            <a:solidFill>
              <a:srgbClr val="15100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82350E-3EDE-4627-85A4-36697867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876" y="3290697"/>
            <a:ext cx="38404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35AC72-7F2C-48D3-BA3E-9CFE2CED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452" y="3407093"/>
            <a:ext cx="12801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F5BE5E-8A3B-4AF1-8930-833B498E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452" y="3460813"/>
            <a:ext cx="20116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362D8C-E55E-497F-B426-BEE474B2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628" y="3371279"/>
            <a:ext cx="36576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CE673B-B9CC-4D81-9D76-43DDF802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862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rPr>
              <a:t>Designer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A91938-BD49-4CE8-9383-084F7A5B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004" y="4410075"/>
            <a:ext cx="6217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8221AC-2340-4100-8A56-00AC1B2A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868" y="4552950"/>
            <a:ext cx="51206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15100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2FE236-47AD-455E-95C5-A4A99F53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876" y="4738497"/>
            <a:ext cx="384048" cy="214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7620">
            <a:solidFill>
              <a:srgbClr val="15100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548BC5-8C84-4B97-ADD4-9A7D4D86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876" y="4738497"/>
            <a:ext cx="38404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D54773-D77D-45C0-BB43-EDF7D758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452" y="4854893"/>
            <a:ext cx="12801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922055-25AF-4E05-B4AA-F64251EE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452" y="4908614"/>
            <a:ext cx="20116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330E31-0680-4EC2-B6F7-830ED387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628" y="4819079"/>
            <a:ext cx="36576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2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244808-700F-4F67-8AF2-28917762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340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rPr>
              <a:t>Founder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85FDBF-1E74-4D04-97E2-3518C321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004" y="4410075"/>
            <a:ext cx="6217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B3AA14-EBEB-4283-B694-286EFEFC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5868" y="4552950"/>
            <a:ext cx="51206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15100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339A6C-8AE9-45FD-BD91-D0E8EC16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876" y="4738497"/>
            <a:ext cx="384048" cy="214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7620">
            <a:solidFill>
              <a:srgbClr val="15100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577DDD-CECD-44E1-BDC9-AD6A88A4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876" y="4738497"/>
            <a:ext cx="38404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C49EDC-E83F-4DA6-8E15-D77548AC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452" y="4854893"/>
            <a:ext cx="12801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28A828-3514-4BF9-AD75-AE080F5C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452" y="4908614"/>
            <a:ext cx="20116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51EBF2-53CF-4AD6-862D-D5A6BA38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628" y="4819079"/>
            <a:ext cx="36576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83F629-5EC2-471B-8248-D4DCE0BB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340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rPr>
              <a:t>VC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6DEC70-5C2B-4C1A-BFE2-32A1B9E2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04" y="4410075"/>
            <a:ext cx="6217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959935-12B5-4795-8454-7AF12A3D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868" y="4552950"/>
            <a:ext cx="51206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15100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8787FB-E2C6-4499-A29D-AEB4D35D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876" y="4738497"/>
            <a:ext cx="384048" cy="214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7620">
            <a:solidFill>
              <a:srgbClr val="15100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487267-2535-4AD9-A11E-9ECE3138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876" y="4738497"/>
            <a:ext cx="38404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5DA02A-4C1C-4500-B9E1-79A6D22C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452" y="4854893"/>
            <a:ext cx="12801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85C20F-9252-4DB6-A90B-856FFEA4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452" y="4908614"/>
            <a:ext cx="20116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D1389F-9CA7-4BDC-9C6E-01CE1965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628" y="4819079"/>
            <a:ext cx="36576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C594EB-E8F4-4F3B-9D60-8E538D27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3340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5100D"/>
                </a:solidFill>
                <a:latin typeface="Microsoft YaHei UI"/>
                <a:ea typeface="Microsoft YaHei UI"/>
                <a:cs typeface="Microsoft YaHei UI"/>
              </a:rPr>
              <a:t>Everyday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B4E664-A766-4080-89B0-79B2B39D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191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1913"/>
                </a:solidFill>
                <a:latin typeface="Aptos"/>
                <a:ea typeface="Aptos"/>
                <a:cs typeface="Aptos"/>
              </a:rPr>
              <a:t>The value is not making information shorter. It is translating the same change into different personal meanings.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DB38DF-FF8F-4DAB-9A08-B75E5566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731258-F789-49CD-B913-959AE242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C817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C8175"/>
                </a:solidFill>
                <a:latin typeface="Aptos Mono"/>
                <a:ea typeface="Aptos Mono"/>
                <a:cs typeface="Aptos Mono"/>
              </a:rPr>
              <a:t>TIME SLICE COFFEE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B6E34A-7BDB-495F-8E91-5F60579D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10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C817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C8175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385020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BA7BA3-B8C8-4468-A2D5-C01173B9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09723B83-01C3-4F28-9D31-5E3F5CC8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E94B1DB7-5AEB-46D4-A5FA-BC366F6C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F0E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8F0E6"/>
                </a:solidFill>
                <a:latin typeface="Aptos Mono"/>
                <a:ea typeface="Aptos Mono"/>
                <a:cs typeface="Aptos Mono"/>
              </a:rPr>
              <a:t>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1C1ED-E56A-4BEB-A148-AD45B8CE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0E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8F0E6"/>
                </a:solidFill>
                <a:latin typeface="Georgia"/>
                <a:ea typeface="Georgia"/>
                <a:cs typeface="Georgia"/>
              </a:rPr>
              <a:t>Stable Today,</a:t>
            </a:r>
          </a:p>
          <a:p xmlns:a="http://schemas.openxmlformats.org/drawingml/2006/main">
            <a:pPr algn="l">
              <a:defRPr sz="3300" b="1">
                <a:solidFill>
                  <a:srgbClr val="F8F0E6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8F0E6"/>
                </a:solidFill>
                <a:latin typeface="Georgia"/>
                <a:ea typeface="Georgia"/>
                <a:cs typeface="Georgia"/>
              </a:rPr>
              <a:t>Real-Time Tomorrow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8BDA2-A52D-499D-950A-23E49468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CDB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D8CDBE"/>
                </a:solidFill>
                <a:latin typeface="Microsoft YaHei UI"/>
                <a:ea typeface="Microsoft YaHei UI"/>
                <a:cs typeface="Microsoft YaHei UI"/>
              </a:rPr>
              <a:t>今天稳定演示，未来实时接入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0C8A8-BA01-48EA-87E5-E864C3F1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0E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F8F0E6"/>
                </a:solidFill>
                <a:latin typeface="Microsoft YaHei UI"/>
                <a:ea typeface="Microsoft YaHei UI"/>
                <a:cs typeface="Microsoft YaHei UI"/>
              </a:rPr>
              <a:t>当前采用预置 xAI / Grok signal bank 保证现场演示稳定，未来可接入实时 Grok / X API。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72CB3-A11D-47DF-8477-96CAB21B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4191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913"/>
          </a:solidFill>
          <a:ln xmlns:a="http://schemas.openxmlformats.org/drawingml/2006/main" w="11430">
            <a:solidFill>
              <a:srgbClr val="5F51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14BCD-D264-4B26-9445-3ACC47B2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1143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D1299-EED4-484A-A0DA-6885CCB2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2438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0E6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8F0E6"/>
                </a:solidFill>
                <a:latin typeface="Georgia"/>
                <a:ea typeface="Georgia"/>
                <a:cs typeface="Georgia"/>
              </a:rPr>
              <a:t>Plan B /</a:t>
            </a:r>
          </a:p>
          <a:p xmlns:a="http://schemas.openxmlformats.org/drawingml/2006/main">
            <a:pPr algn="l">
              <a:defRPr sz="1725" b="1">
                <a:solidFill>
                  <a:srgbClr val="F8F0E6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8F0E6"/>
                </a:solidFill>
                <a:latin typeface="Georgia"/>
                <a:ea typeface="Georgia"/>
                <a:cs typeface="Georgia"/>
              </a:rPr>
              <a:t>Stable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73585-7104-488F-ADD9-531EB7BD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3067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11B"/>
          </a:solidFill>
          <a:ln xmlns:a="http://schemas.openxmlformats.org/drawingml/2006/main" w="9525">
            <a:solidFill>
              <a:srgbClr val="5F51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48F54-D069-48A8-BB79-D113807E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174A7-3D07-48B1-8E27-B4EAE7CA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F0E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8F0E6"/>
                </a:solidFill>
                <a:latin typeface="Aptos Mono"/>
                <a:ea typeface="Aptos Mono"/>
                <a:cs typeface="Aptos Mono"/>
              </a:rPr>
              <a:t>Preloaded xAI / Grok signal bank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D894C-E44E-4D20-972D-4914E702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11B"/>
          </a:solidFill>
          <a:ln xmlns:a="http://schemas.openxmlformats.org/drawingml/2006/main" w="9525">
            <a:solidFill>
              <a:srgbClr val="5F51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EB333-83B5-490F-B7E7-553D7483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46330-C994-4AEB-B5B1-E73EC100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F0E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8F0E6"/>
                </a:solidFill>
                <a:latin typeface="Aptos Mono"/>
                <a:ea typeface="Aptos Mono"/>
                <a:cs typeface="Aptos Mono"/>
              </a:rPr>
              <a:t>6 shelves × 9 raw signals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81D04-1A93-4E8C-A0A6-995CAB5D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0"/>
            <a:ext cx="43053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E6"/>
          </a:solidFill>
          <a:ln xmlns:a="http://schemas.openxmlformats.org/drawingml/2006/main" w="14288">
            <a:solidFill>
              <a:srgbClr val="5F51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EE07C-29F2-459C-AAC4-43FADC7F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0"/>
            <a:ext cx="430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AE742-8E7D-4B47-A950-A7A0B04B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335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482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B5482E"/>
                </a:solidFill>
                <a:latin typeface="Aptos Mono"/>
                <a:ea typeface="Aptos Mono"/>
                <a:cs typeface="Aptos Mono"/>
              </a:rPr>
              <a:t>DEMO STACK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5BC3D-C5F5-47C5-BD6C-BD4D24DB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383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4D6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43DF0-708A-4308-BDC9-28C51BAB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14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Extracted Slice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21C48-A825-43B0-97DE-6860A26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336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9DA50-C660-4E9D-8024-0D9131BD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09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Persona / Density / Hot-Iced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1825E1-F4F7-4E58-92C9-DCD824BB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289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4D6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A03A9E-02F6-4513-AC37-BC2BE676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05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Brew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274C2C-1BA8-4F86-8D35-C1D9F5F0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24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5C8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079A3B-3E2E-4574-ABF1-3D6980E1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004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Label / Pick Up page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03B49-2946-4D7C-9673-57CB0F8F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38600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40A30C-C7B4-4790-9FCD-8E872AC0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00D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5100D"/>
                </a:solidFill>
                <a:latin typeface="Georgia"/>
                <a:ea typeface="Georgia"/>
                <a:cs typeface="Georgia"/>
              </a:rPr>
              <a:t>Plan A / Real-Time Future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91B76E-4959-403B-A408-CA489F82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Future Grok / X API</a:t>
            </a:r>
          </a:p>
          <a:p xmlns:a="http://schemas.openxmlformats.org/drawingml/2006/main">
            <a:pPr algn="l">
              <a:defRPr sz="975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Future 50×70mm label printing module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50FFC0-811C-4907-AB60-2711BC7C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4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5461C9-5557-4E4F-9BA7-C4F5E634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EB4A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EB4A8"/>
                </a:solidFill>
                <a:latin typeface="Aptos Mono"/>
                <a:ea typeface="Aptos Mono"/>
                <a:cs typeface="Aptos Mono"/>
              </a:rPr>
              <a:t>TIME SLICE COFFEE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A5C5E9-F08F-4671-AF8F-C895BC8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10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EB4A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EB4A8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184214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355E82-0342-4631-B9DF-1CCE32C7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e7c094bce46a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4ACFD-F684-4BB4-9A6E-8DCF53FF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E6">
              <a:alpha val="9176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C202A-27E5-4712-83C2-E32038B3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6553BFF8-FE5B-425B-A64B-307446CF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6A410D74-140C-4224-A3F4-EE63A9EE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5100D"/>
                </a:solidFill>
                <a:latin typeface="Aptos Mono"/>
                <a:ea typeface="Aptos Mono"/>
                <a:cs typeface="Aptos Mono"/>
              </a:rPr>
              <a:t>CLOSING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86462-2483-43BB-86F2-677A93A0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1244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5100D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15100D"/>
                </a:solidFill>
                <a:latin typeface="Georgia"/>
                <a:ea typeface="Georgia"/>
                <a:cs typeface="Georgia"/>
              </a:rPr>
              <a:t>Don’t Read</a:t>
            </a:r>
          </a:p>
          <a:p xmlns:a="http://schemas.openxmlformats.org/drawingml/2006/main">
            <a:pPr algn="l">
              <a:defRPr sz="4350" b="1">
                <a:solidFill>
                  <a:srgbClr val="15100D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15100D"/>
                </a:solidFill>
                <a:latin typeface="Georgia"/>
                <a:ea typeface="Georgia"/>
                <a:cs typeface="Georgia"/>
              </a:rPr>
              <a:t>the Age.</a:t>
            </a:r>
          </a:p>
          <a:p xmlns:a="http://schemas.openxmlformats.org/drawingml/2006/main">
            <a:pPr algn="l">
              <a:defRPr sz="4350" b="1">
                <a:solidFill>
                  <a:srgbClr val="15100D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15100D"/>
                </a:solidFill>
                <a:latin typeface="Georgia"/>
                <a:ea typeface="Georgia"/>
                <a:cs typeface="Georgia"/>
              </a:rPr>
              <a:t>Drink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B9A4B-F68A-4045-AE36-F3D536EA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74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48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B5482E"/>
                </a:solidFill>
                <a:latin typeface="Microsoft YaHei UI"/>
                <a:ea typeface="Microsoft YaHei UI"/>
                <a:cs typeface="Microsoft YaHei UI"/>
              </a:rPr>
              <a:t>不要只是阅读时代，把它喝下去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B08B3-05F2-4EFA-8E8F-825BD5EB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191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241913"/>
                </a:solidFill>
                <a:latin typeface="Microsoft YaHei UI"/>
                <a:ea typeface="Microsoft YaHei UI"/>
                <a:cs typeface="Microsoft YaHei UI"/>
              </a:rPr>
              <a:t>Time Slice Coffee 让人们不只是刷到信息，</a:t>
            </a:r>
          </a:p>
          <a:p xmlns:a="http://schemas.openxmlformats.org/drawingml/2006/main">
            <a:pPr algn="l">
              <a:defRPr sz="1725" b="0">
                <a:solidFill>
                  <a:srgbClr val="24191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241913"/>
                </a:solidFill>
                <a:latin typeface="Microsoft YaHei UI"/>
                <a:ea typeface="Microsoft YaHei UI"/>
                <a:cs typeface="Microsoft YaHei UI"/>
              </a:rPr>
              <a:t>而是点单、萃取、理解，并带走一杯属于自己的时代切片。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BA1CE-F32F-4CC8-B55C-96D16867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548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B5482E"/>
                </a:solidFill>
                <a:latin typeface="Microsoft YaHei UI"/>
                <a:ea typeface="Microsoft YaHei UI"/>
                <a:cs typeface="Microsoft YaHei UI"/>
              </a:rPr>
              <a:t>你今日 fo 了 mo？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0B435-7424-4EE7-BB69-30CB6D5B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91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1913"/>
                </a:solidFill>
                <a:latin typeface="Aptos"/>
                <a:ea typeface="Aptos"/>
                <a:cs typeface="Aptos"/>
              </a:rPr>
              <a:t>Don’t read the age. Drink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E2370-7FC2-45D3-BB2F-8C914A44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EE282-96CE-4AE1-B843-9B2B00CF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C817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C8175"/>
                </a:solidFill>
                <a:latin typeface="Aptos Mono"/>
                <a:ea typeface="Aptos Mono"/>
                <a:cs typeface="Aptos Mono"/>
              </a:rPr>
              <a:t>TIME SLICE COFFEE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42698-26A6-4EF6-8F1F-7BAC3630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10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C817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C8175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3802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2026-05-30T08:00:17.4310000Z</dcterms:created>
  <dcterms:modified xsi:type="dcterms:W3CDTF">2026-05-30T08:00:17.4310000Z</dcterms:modified>
</coreProperties>
</file>
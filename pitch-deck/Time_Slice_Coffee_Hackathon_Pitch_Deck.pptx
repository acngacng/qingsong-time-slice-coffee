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8da58df4b8459f" /><Relationship Type="http://schemas.openxmlformats.org/officeDocument/2006/relationships/extended-properties" Target="/docProps/app.xml" Id="R8cfd57e967a84e38" /><Relationship Type="http://schemas.openxmlformats.org/officeDocument/2006/relationships/officeDocument" Target="/ppt/presentation.xml" Id="Re78b721944a248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ab1b4058e24607"/>
  </p:sldMasterIdLst>
  <p:notesMasterIdLst>
    <p:notesMasterId xmlns:r="http://schemas.openxmlformats.org/officeDocument/2006/relationships" r:id="R353b3be059e249c8"/>
  </p:notesMasterIdLst>
  <p:sldIdLst>
    <p:sldId xmlns:r="http://schemas.openxmlformats.org/officeDocument/2006/relationships" id="256" r:id="R2b45399eb20c45b6"/>
    <p:sldId xmlns:r="http://schemas.openxmlformats.org/officeDocument/2006/relationships" id="257" r:id="R129c9bd4ca284a98"/>
    <p:sldId xmlns:r="http://schemas.openxmlformats.org/officeDocument/2006/relationships" id="258" r:id="R7ab6f8e342654a1e"/>
    <p:sldId xmlns:r="http://schemas.openxmlformats.org/officeDocument/2006/relationships" id="259" r:id="R3719c3d6d58444e4"/>
    <p:sldId xmlns:r="http://schemas.openxmlformats.org/officeDocument/2006/relationships" id="260" r:id="Rf59394ba0f864702"/>
    <p:sldId xmlns:r="http://schemas.openxmlformats.org/officeDocument/2006/relationships" id="261" r:id="Rbb9371cdf2f44357"/>
    <p:sldId xmlns:r="http://schemas.openxmlformats.org/officeDocument/2006/relationships" id="262" r:id="Rb527d4446b884fb3"/>
    <p:sldId xmlns:r="http://schemas.openxmlformats.org/officeDocument/2006/relationships" id="263" r:id="R7688def7832b4a8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ab1b4058e24607" /><Relationship Type="http://schemas.openxmlformats.org/officeDocument/2006/relationships/theme" Target="/ppt/theme/theme1.xml" Id="Rf64f20392a444f3f" /><Relationship Type="http://schemas.openxmlformats.org/officeDocument/2006/relationships/notesMaster" Target="/ppt/notesMasters/notesMaster1.xml" Id="R353b3be059e249c8" /><Relationship Type="http://schemas.openxmlformats.org/officeDocument/2006/relationships/presProps" Target="/ppt/presProps.xml" Id="R1e29bdc6c6a242d0" /><Relationship Type="http://schemas.openxmlformats.org/officeDocument/2006/relationships/viewProps" Target="/ppt/viewProps.xml" Id="R701cc901c54b4333" /><Relationship Type="http://schemas.openxmlformats.org/officeDocument/2006/relationships/tableStyles" Target="/ppt/tableStyles.xml" Id="R0ba65a5bf9a8421c" /><Relationship Type="http://schemas.openxmlformats.org/officeDocument/2006/relationships/slide" Target="/ppt/slides/slide1.xml" Id="R2b45399eb20c45b6" /><Relationship Type="http://schemas.openxmlformats.org/officeDocument/2006/relationships/slide" Target="/ppt/slides/slide2.xml" Id="R129c9bd4ca284a98" /><Relationship Type="http://schemas.openxmlformats.org/officeDocument/2006/relationships/slide" Target="/ppt/slides/slide3.xml" Id="R7ab6f8e342654a1e" /><Relationship Type="http://schemas.openxmlformats.org/officeDocument/2006/relationships/slide" Target="/ppt/slides/slide4.xml" Id="R3719c3d6d58444e4" /><Relationship Type="http://schemas.openxmlformats.org/officeDocument/2006/relationships/slide" Target="/ppt/slides/slide5.xml" Id="Rf59394ba0f864702" /><Relationship Type="http://schemas.openxmlformats.org/officeDocument/2006/relationships/slide" Target="/ppt/slides/slide6.xml" Id="Rbb9371cdf2f44357" /><Relationship Type="http://schemas.openxmlformats.org/officeDocument/2006/relationships/slide" Target="/ppt/slides/slide7.xml" Id="Rb527d4446b884fb3" /><Relationship Type="http://schemas.openxmlformats.org/officeDocument/2006/relationships/slide" Target="/ppt/slides/slide8.xml" Id="R7688def7832b4a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e9957f22b804f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2a7c457c91c476b" /><Relationship Type="http://schemas.openxmlformats.org/officeDocument/2006/relationships/notesMaster" Target="/ppt/notesMasters/notesMaster1.xml" Id="R5a666941d3be4e7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629d0a0ddb4b19" /><Relationship Type="http://schemas.openxmlformats.org/officeDocument/2006/relationships/notesMaster" Target="/ppt/notesMasters/notesMaster1.xml" Id="Rf3a250bffb3344c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e047c252cf425b" /><Relationship Type="http://schemas.openxmlformats.org/officeDocument/2006/relationships/notesMaster" Target="/ppt/notesMasters/notesMaster1.xml" Id="R90c85af5f84f469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9246e28a41a4aeb" /><Relationship Type="http://schemas.openxmlformats.org/officeDocument/2006/relationships/notesMaster" Target="/ppt/notesMasters/notesMaster1.xml" Id="R26ff7ae62c134a9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688df6a985c4e1c" /><Relationship Type="http://schemas.openxmlformats.org/officeDocument/2006/relationships/notesMaster" Target="/ppt/notesMasters/notesMaster1.xml" Id="R3eb3591ddddf46f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72e8a282b14b4a" /><Relationship Type="http://schemas.openxmlformats.org/officeDocument/2006/relationships/notesMaster" Target="/ppt/notesMasters/notesMaster1.xml" Id="R32859c9a17a442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15942d0ba494003" /><Relationship Type="http://schemas.openxmlformats.org/officeDocument/2006/relationships/notesMaster" Target="/ppt/notesMasters/notesMaster1.xml" Id="R0d297c332ec94d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828bff85d144762" /><Relationship Type="http://schemas.openxmlformats.org/officeDocument/2006/relationships/notesMaster" Target="/ppt/notesMasters/notesMaster1.xml" Id="Rbecbd8e8f4d049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012bd126e6484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150bb72d872b4a4e" /><Relationship Type="http://schemas.openxmlformats.org/officeDocument/2006/relationships/slideLayout" Target="/ppt/slideLayouts/slideLayout2.xml" Id="Ra03cd17b8a5a4dc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3cd17b8a5a4dc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bb2f1c9e5b4e9a" /><Relationship Type="http://schemas.openxmlformats.org/officeDocument/2006/relationships/image" Target="/ppt/media/image.png" Id="R0a5723393b4f46af" /><Relationship Type="http://schemas.openxmlformats.org/officeDocument/2006/relationships/notesSlide" Target="/ppt/notesSlides/notesSlide1.xml" Id="Rb88874a54a3346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3170a6f19a4987" /><Relationship Type="http://schemas.openxmlformats.org/officeDocument/2006/relationships/image" Target="/ppt/media/image2.png" Id="R5038254073f24244" /><Relationship Type="http://schemas.openxmlformats.org/officeDocument/2006/relationships/notesSlide" Target="/ppt/notesSlides/notesSlide2.xml" Id="Rbf48c1321d404ad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8a0f54f3dc473e" /><Relationship Type="http://schemas.openxmlformats.org/officeDocument/2006/relationships/notesSlide" Target="/ppt/notesSlides/notesSlide3.xml" Id="Rd5b7f5bb175e49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b5da927a404c3b" /><Relationship Type="http://schemas.openxmlformats.org/officeDocument/2006/relationships/notesSlide" Target="/ppt/notesSlides/notesSlide4.xml" Id="R9dde14b2e1fa4dc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30ad79412f4b16" /><Relationship Type="http://schemas.openxmlformats.org/officeDocument/2006/relationships/image" Target="/ppt/media/image3.png" Id="R08afb1a6d6a94765" /><Relationship Type="http://schemas.openxmlformats.org/officeDocument/2006/relationships/notesSlide" Target="/ppt/notesSlides/notesSlide5.xml" Id="R400553216f9c4f3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72db65716045ab" /><Relationship Type="http://schemas.openxmlformats.org/officeDocument/2006/relationships/notesSlide" Target="/ppt/notesSlides/notesSlide6.xml" Id="R32524b2669f74a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804a9569d545f4" /><Relationship Type="http://schemas.openxmlformats.org/officeDocument/2006/relationships/notesSlide" Target="/ppt/notesSlides/notesSlide7.xml" Id="R8926fb13125e40c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946b44c70f4ebe" /><Relationship Type="http://schemas.openxmlformats.org/officeDocument/2006/relationships/image" Target="/ppt/media/image4.png" Id="R5062c1e7e51a4351" /><Relationship Type="http://schemas.openxmlformats.org/officeDocument/2006/relationships/notesSlide" Target="/ppt/notesSlides/notesSlide8.xml" Id="Rfd3b7d29daf24d8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C0330E-11A2-49A8-B4AE-5082CC13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5723393b4f46a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371DA1-D8E4-4BB3-AC25-1A64BC554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29AF3B-2BA2-48B8-94F2-371F4B33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1-marker">
            <a:extLst xmlns:a="http://schemas.openxmlformats.org/drawingml/2006/main">
              <a:ext uri="{FF2B5EF4-FFF2-40B4-BE49-F238E27FC236}">
                <a16:creationId xmlns:a16="http://schemas.microsoft.com/office/drawing/2014/main" id="{AD172431-EE87-4E14-B9F9-A5648294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1-label">
            <a:extLst xmlns:a="http://schemas.openxmlformats.org/drawingml/2006/main">
              <a:ext uri="{FF2B5EF4-FFF2-40B4-BE49-F238E27FC236}">
                <a16:creationId xmlns:a16="http://schemas.microsoft.com/office/drawing/2014/main" id="{5E9E8F7B-7045-4137-8F04-22A94016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24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HACKATHON PITCH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6A3904-52C8-4507-8D82-6F80EFAD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4762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6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Time Slice</a:t>
            </a:r>
          </a:p>
          <a:p xmlns:a="http://schemas.openxmlformats.org/drawingml/2006/main">
            <a:pPr algn="l">
              <a:defRPr sz="46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6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Coffee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84DFE5-0B0F-4AC3-B9F0-508C1351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5600"/>
            <a:ext cx="476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62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你今日 fo 了 mo？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B215D5-0463-478F-A7A1-6B4DBDF0A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4686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把今天真正重要的一则变化，</a:t>
            </a:r>
          </a:p>
          <a:p xmlns:a="http://schemas.openxmlformats.org/drawingml/2006/main">
            <a:pPr algn="l"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装进一杯咖啡里。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6A86C3-FB19-4585-8AF6-523390472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05350"/>
            <a:ext cx="2667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13335">
            <a:solidFill>
              <a:srgbClr val="15100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EEC565-959A-420B-8F5B-A092DA7E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05350"/>
            <a:ext cx="266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749658-125A-4F41-B86D-43C1C9AA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165354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71" b="1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071" b="1">
                <a:solidFill>
                  <a:srgbClr val="F8F0E6"/>
                </a:solidFill>
                <a:latin typeface="Aptos"/>
                <a:ea typeface="Aptos"/>
                <a:cs typeface="Aptos"/>
              </a:rPr>
              <a:t>TODAY'S</a:t>
            </a:r>
          </a:p>
          <a:p xmlns:a="http://schemas.openxmlformats.org/drawingml/2006/main">
            <a:pPr algn="l">
              <a:defRPr sz="1071" b="1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071" b="1">
                <a:solidFill>
                  <a:srgbClr val="F8F0E6"/>
                </a:solidFill>
                <a:latin typeface="Aptos"/>
                <a:ea typeface="Aptos"/>
                <a:cs typeface="Aptos"/>
              </a:rPr>
              <a:t>INFORMATION SLICE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397834-54E5-4999-9ECA-9E516342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8196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C045B4-46A5-4D6A-A4F1-61E7392E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200650"/>
            <a:ext cx="838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TS-001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752D06-DD3E-44B0-828D-B71284277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1410D0-059D-4543-8965-0549E8CA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90678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SHELF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00DE1B-6494-42FE-8EFC-CDA0F929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070" y="5162550"/>
            <a:ext cx="149352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AI FRONTIER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CBDAEA-CFF0-4279-8DC7-FC457599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0065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3AF17E-21DE-4806-9A38-808634E68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86375"/>
            <a:ext cx="90678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IDENTITY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3E99F2-78FE-4BEF-958C-19A4958BA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070" y="5257800"/>
            <a:ext cx="149352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A74C4E-E8B7-4783-8F96-46CCDD82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8640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37D89E-02C0-4E2E-8F35-4C0B59A2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00F3E1-F306-4D69-A405-039A696B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43BC05-A5FF-43C7-8106-E906F048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8640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D53988-9AB1-4E67-8467-7C25093E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46BB46-3CA4-4B83-9D6D-2569896B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1164BA-0CC7-42D7-B19E-ACD7FDBD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8640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74A399-6BE5-4995-BBF6-2CF2CC38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3BFBB9-7700-43D6-9708-0BF4E4FD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5ABD9F-322A-4246-B464-25FA7F7E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48640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03C1BB-A1CE-4203-BC64-7D5723CD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19420A0-F083-45D2-B39C-9ACDFFC9B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6BE856-CEA9-47FC-A317-B5998D9B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48640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6E211F-EC0B-48F3-88D4-CBA697F9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822FE7-E5AA-4127-8D48-689848BD9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864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4F7295-C44F-4B51-90B6-2ECDD810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448300"/>
            <a:ext cx="171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8CAF60-65E3-4BD6-B0F8-C2BB0F04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57750"/>
            <a:ext cx="17716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Not another AI SaaS.</a:t>
            </a:r>
          </a:p>
          <a:p xmlns:a="http://schemas.openxmlformats.org/drawingml/2006/main">
            <a:pPr algn="l">
              <a:defRPr sz="10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An information consumer product for the AI age.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0796F3-6E0E-492E-A05F-6CF64F39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AB79486-31E9-47D8-B669-1308115E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5C4BDD3-95B1-460E-8493-8637741B9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7188617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F7D4FA-59E5-43D4-8CFB-0B1E380D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38254073f2424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7D65E9-B126-475A-B036-6836F579B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715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9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375A57-12C0-4F98-871B-A0A50F71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1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63571B11-7F27-4178-A1D6-0964B5914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6D312EB4-D543-4DE0-994D-BFF6C0E0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30A4F3-2341-4BC2-B2E6-4FB73A4BB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4762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Every Signal</a:t>
            </a:r>
          </a:p>
          <a:p xmlns:a="http://schemas.openxmlformats.org/drawingml/2006/main">
            <a:pPr algn="l"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Pretends to Matter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B06E2D-5517-44AC-80E7-86A756B5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5265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每一条信息都装作自己很重要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7BB1C0-9DD1-4E7C-B7E3-4C185DA2C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4648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AI 时代的问题不是信息不够，</a:t>
            </a:r>
          </a:p>
          <a:p xmlns:a="http://schemas.openxmlformats.org/drawingml/2006/main">
            <a:pPr algn="l"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而是每天都有太多数据信号在制造 FOMO。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08D482-A629-47D1-B638-5C1031A83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7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FE83BB-2AE7-4089-9D68-F0DC6085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3962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8CDB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CDBE"/>
                </a:solidFill>
                <a:latin typeface="Aptos"/>
                <a:ea typeface="Aptos"/>
                <a:cs typeface="Aptos"/>
              </a:rPr>
              <a:t>People fear missing out, falling behind, or being replaced. The pressure comes from too many signals pretending to be urgent.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1B04FF-796A-41CA-89CC-40BB79628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895350"/>
            <a:ext cx="1752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65882"/>
            </a:srgbClr>
          </a:solidFill>
          <a:ln xmlns:a="http://schemas.openxmlformats.org/drawingml/2006/main" w="9525">
            <a:solidFill>
              <a:srgbClr val="6B5748"/>
            </a:solidFill>
            <a:prstDash val="solid"/>
          </a:ln>
        </p:spPr>
        <p:txBody>
          <a:bodyPr xmlns:a="http://schemas.openxmlformats.org/drawingml/2006/main" lIns="114300" tIns="114300" rIns="114300" bIns="1143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AI UPDATE</a:t>
            </a:r>
          </a:p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MARKET ALERT</a:t>
            </a:r>
          </a:p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WORKFLOW SHIFT</a:t>
            </a:r>
          </a:p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MODEL RELEASE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BD130A-B8A5-4482-B3AC-F5D05043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8EE652-853A-4BF5-A85A-7D55053C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D85F81-C2BA-4849-BD6A-1EBBBD81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1456236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14B7C3-BAC0-46A9-BFE0-958ABA36F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77063C96-E493-40FF-BE71-4A3FB709F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CEBED6DA-A0D8-431A-9212-5D30A8999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INSIGHT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20F256-EF27-4C44-8871-AFA8898C4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590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Understanding</a:t>
            </a:r>
          </a:p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Becomes a Product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3ED057-6A07-4E94-8207-13782673C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57400"/>
            <a:ext cx="590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理解，正在变成一种消费品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1B435D-E7D6-474F-B4D5-AC7CBA89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42291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过去，</a:t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人们买水是为了解渴。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后来，</a:t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人们购买品牌、身份和生活方式。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而 AI 时代，</a:t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人们开始购买：</a:t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对这个时代的理解。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5D264B-0C1A-48C7-A9B1-7567D200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29000"/>
            <a:ext cx="5067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5CA73F-2263-4434-93A8-C3A73946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22A104-8308-4164-91FD-1AA83846D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9A1874-3657-471D-95B8-8B4C9D16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86DA90-376B-425E-9CC0-D878A471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Water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082356-217C-46E6-B789-A3BF742B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解渴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91E21E-9D72-4EA7-A206-FE1C5495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7D09D4-20ED-4100-87BF-707A295FB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19BE74-C6D5-4B35-900F-0B14FE5D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B4AF67-85B7-4E6F-8F21-33765243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Brand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22E3E8-57BC-42C1-89A9-99804E6D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身份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F0767C-BE0C-4234-B0AC-8EDA75DE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13B221-089E-42CF-89F3-2ACEA6F2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EDC768-9096-44E9-A5CA-02826F3E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DCF6F7-118A-41F0-AE6F-661C34DC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Coffee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1D6FC3-8A64-4DE4-BCD2-F8D907C2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生活方式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C20CEC-21D7-4133-88A5-F5FA50FC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26720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6933CA-92BA-4BBF-AE40-BCFF7C60B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577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782113-F84A-4308-AB18-04E64144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56247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ADA8CE-7A80-4E58-B85B-55109B51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01015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Info Coffee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E70C1F-477B-44D3-8BE6-08331FA6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29590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时代理解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61F71E-7860-431D-973A-F8A5BA95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83845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F2F80D-B586-4F9D-8886-53FFD8A1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68630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713C31-A634-4FB8-B24F-A8C767DE6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657850"/>
            <a:ext cx="504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People no longer only consume content.</a:t>
            </a:r>
          </a:p>
          <a:p xmlns:a="http://schemas.openxmlformats.org/drawingml/2006/main">
            <a:pPr algn="l">
              <a:defRPr sz="150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They consume packaged understanding.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161888-629A-4F4A-9BD9-C0DA9E852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22D30AE-247D-49A7-994B-75279A967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F23C4E-0442-45FD-9D01-E39A7430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7428277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F9BA2C-892B-4A4B-A1A4-57835917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4-marker">
            <a:extLst xmlns:a="http://schemas.openxmlformats.org/drawingml/2006/main">
              <a:ext uri="{FF2B5EF4-FFF2-40B4-BE49-F238E27FC236}">
                <a16:creationId xmlns:a16="http://schemas.microsoft.com/office/drawing/2014/main" id="{9E24C2A8-61AC-4A93-B758-D81242E3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4-label">
            <a:extLst xmlns:a="http://schemas.openxmlformats.org/drawingml/2006/main">
              <a:ext uri="{FF2B5EF4-FFF2-40B4-BE49-F238E27FC236}">
                <a16:creationId xmlns:a16="http://schemas.microsoft.com/office/drawing/2014/main" id="{F8CD94D0-D765-4DD4-943E-8491970C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39DF50-1F72-48E7-8D8B-FBF00450F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4171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An Information</a:t>
            </a:r>
          </a:p>
          <a:p xmlns:a="http://schemas.openxmlformats.org/drawingml/2006/main">
            <a:pPr algn="l"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Coffee Bar</a:t>
            </a:r>
          </a:p>
          <a:p xmlns:a="http://schemas.openxmlformats.org/drawingml/2006/main">
            <a:pPr algn="l"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for the AI 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775465-9447-403F-A0A8-B4CFBDA6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4171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AI 时代的信息咖啡吧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554BE7-44C8-4122-9B05-79750C23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4629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Time Slice Coffee 把真实信息流中的重要变化，</a:t>
            </a:r>
          </a:p>
          <a:p xmlns:a="http://schemas.openxmlformats.org/drawingml/2006/main">
            <a:pPr algn="l"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萃取成不同身份可理解、可带走的时代信息切片咖啡。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3FB115-EC30-4AA5-B81C-8AB096C25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01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C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CDBE"/>
                </a:solidFill>
                <a:latin typeface="Aptos"/>
                <a:ea typeface="Aptos"/>
                <a:cs typeface="Aptos"/>
              </a:rPr>
              <a:t>We turn reading information into ordering a cup.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978E9D-E81E-49F8-A566-8260BE7B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742950"/>
            <a:ext cx="5334000" cy="491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9050">
            <a:solidFill>
              <a:srgbClr val="6B574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B186E5-296B-4C3E-BA20-893E847E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742950"/>
            <a:ext cx="5334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19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BBAD7D-DA9A-4825-BB1E-56695090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95250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165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TODAY'S MENU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C5BABC-0B56-47C3-9BC6-0937857F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009650"/>
            <a:ext cx="2324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CDBFAE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DBFAE"/>
                </a:solidFill>
                <a:latin typeface="Aptos Mono"/>
                <a:ea typeface="Aptos Mono"/>
                <a:cs typeface="Aptos Mono"/>
              </a:rPr>
              <a:t>6 shelves × identity × density × serve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60737D-F8FC-4E49-8260-D77854776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95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7AF99F-08FC-4481-8FF9-879E4ED8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954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E122BD-8B03-4156-BF1E-C96DA98E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7716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AI Frontier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C39991-AFCF-456F-9638-779EC487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9621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AI 前沿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359956-4FD3-4EB0-A30D-8A6A0200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95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75504A-74AB-4A9E-89CE-108471A5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954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60CC79-BB20-45F4-976B-58EE7E75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7716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 &amp; Workflow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A79F13-96D3-49F0-A7BF-33BA81DA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9621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构建工作流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63EA5E-6B42-4145-924B-13A91BBA1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193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43612C-B647-42E6-A526-251A6BC6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193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DE39B3-2116-4FBA-9B08-90587B22E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955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Design &amp; Creation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CA8372-B5EB-40AF-830E-BE097EF4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860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设计创作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6A4A92-61D7-448F-9A87-5037726B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4B9BC5-2C85-44B7-A0CB-3AFD301F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960EC5-A344-4365-892A-73E2FFD9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4955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Market &amp; Capital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DA6600-55C2-41E3-8816-B5327F1D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860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市场资本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0DF410-6E4C-4D74-9465-0B4476F3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432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4C0E63-0CB2-4034-B175-90F225985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432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D97488-711C-463F-9417-E253E9AB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2194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Self Upgrade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CECB8A-64C4-40F5-A099-5814FB19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4099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自我升级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4962EC-B348-4AC8-B70F-5F1C6070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432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19D8E5-9FC9-4827-B640-B29AA273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432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9DEB9F-8BF3-4627-83D4-72408E0B7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2194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Life Signals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002D7D-97B4-4A39-A77E-39A533BBE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4099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生活信号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EBD89B-BAB9-48F5-BF39-502990C2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0386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ORDER LAYERS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DDFA5E-9733-42D6-9D07-1193E35E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24350"/>
            <a:ext cx="4457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E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E628D2E-CD67-4616-A465-BF134355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24350"/>
            <a:ext cx="3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128F72-0892-4096-94EA-7C9544FE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381500"/>
            <a:ext cx="428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Student / Builder / Designer / Founder / VC / Everyday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05682DC-6EB5-4F0D-86E1-8A619096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7053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E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737F38A-89C1-4CCD-8128-895889BE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705350"/>
            <a:ext cx="3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ED8398E-27D7-4330-8E35-A2054EBC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2019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Light / Regular / Double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E76D49E-FAF7-47E0-BA2E-04101AE1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05350"/>
            <a:ext cx="2114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E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6B5E93C-77C5-4F10-B76C-C9CB3CBE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05350"/>
            <a:ext cx="3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1275D70-CFE8-4E98-9315-59EAC807B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762500"/>
            <a:ext cx="1943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Served Hot / Served Iced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BDEA9F9-7C8B-4116-91AF-05EF22340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A232BB-28C2-4AF1-8DC0-B4C78E91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20423CE-F139-4B4C-A508-7C62AEF0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1812581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7F63F8-6164-44E8-B34B-F079DF01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afb1a6d6a9476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B0850F-145E-4BD4-9058-3B1E471EF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176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4A98F8-F015-4167-AB10-45058231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19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6588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5-marker">
            <a:extLst xmlns:a="http://schemas.openxmlformats.org/drawingml/2006/main">
              <a:ext uri="{FF2B5EF4-FFF2-40B4-BE49-F238E27FC236}">
                <a16:creationId xmlns:a16="http://schemas.microsoft.com/office/drawing/2014/main" id="{3FCCFBEF-B0E4-42A8-BC47-D4F8071D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5-label">
            <a:extLst xmlns:a="http://schemas.openxmlformats.org/drawingml/2006/main">
              <a:ext uri="{FF2B5EF4-FFF2-40B4-BE49-F238E27FC236}">
                <a16:creationId xmlns:a16="http://schemas.microsoft.com/office/drawing/2014/main" id="{AC8D44F7-DA5E-4F7C-96A5-EC4D7848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4FDB89-070C-4105-9028-9250A7EE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590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From Raw Signal</a:t>
            </a:r>
          </a:p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to Brew Result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E7982A-08C3-4425-BDEA-0CDF37C0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590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从原始信号到一杯信息咖啡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AB73CD-91D8-4778-AADE-2F569986C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2885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Raw Signal → Extracted Slice → Persona → Density → Served Mode → Brew Result → Label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80CA99-0C9D-4BCA-B76E-89DFE45A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9C565A-8136-4FF5-BE31-F18513F1C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74E85E-0052-4093-8B34-824FCD5B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RAW SIGNAL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B55A0E-4116-46BB-8CD3-9E65E8D6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1CA430-59BE-43BA-A31B-701A56C3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352392-6BCA-452B-9585-03BEC4510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EXTRACTED SLICE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0C03AE-B084-4924-945A-2475AD7D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C73D85-90A5-487D-833F-EBD35407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8F4DC0-743F-4FF7-AF64-10BE12DD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BREW RESULT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355F55-9A39-4FA2-B448-9D57C9AB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8555CE-0484-42FC-AA9B-1CB23F03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1B35B1-AC16-4F99-B98A-FF9E3A21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LABEL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CE1749-DA3D-4A44-9CCE-0CFEC5F7D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76550"/>
            <a:ext cx="1638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0980"/>
            </a:srgbClr>
          </a:solidFill>
          <a:ln xmlns:a="http://schemas.openxmlformats.org/drawingml/2006/main" w="13335">
            <a:solidFill>
              <a:srgbClr val="15100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AEA8C8-E0D4-4F56-A7BC-259D11463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76550"/>
            <a:ext cx="1638300" cy="44843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480E13-162C-445D-B433-EEA7ACAE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971800"/>
            <a:ext cx="1015746" cy="33413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1" b="1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201" b="1">
                <a:solidFill>
                  <a:srgbClr val="F8F0E6"/>
                </a:solidFill>
                <a:latin typeface="Aptos"/>
                <a:ea typeface="Aptos"/>
                <a:cs typeface="Aptos"/>
              </a:rPr>
              <a:t>TODAY'S</a:t>
            </a:r>
          </a:p>
          <a:p xmlns:a="http://schemas.openxmlformats.org/drawingml/2006/main">
            <a:pPr algn="l">
              <a:defRPr sz="1201" b="1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201" b="1">
                <a:solidFill>
                  <a:srgbClr val="F8F0E6"/>
                </a:solidFill>
                <a:latin typeface="Aptos"/>
                <a:ea typeface="Aptos"/>
                <a:cs typeface="Aptos"/>
              </a:rPr>
              <a:t>SLICE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683031-48A0-4A04-BCF8-DFB971C9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9908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0E82CA-49CB-4318-BE4C-EE4B5B57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20237"/>
            <a:ext cx="838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LABEL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8E1EE2-001C-455E-AD67-F1163D8C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24987"/>
            <a:ext cx="1638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58FAE8-52EB-4EB9-B827-8E59C904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410712"/>
            <a:ext cx="557022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FOCUS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C32119-3D7B-4437-96AF-A258BDAEC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038" y="3382137"/>
            <a:ext cx="917448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CHANGED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ACBEEB-61A4-4048-8651-0C6FFA40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83508"/>
            <a:ext cx="1638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D15F43-3C8C-4CEC-B511-045C963BA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769233"/>
            <a:ext cx="557022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80DA43-A859-4DA2-A161-EC6CFF64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038" y="3740658"/>
            <a:ext cx="917448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FOR ME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587108-4453-46A0-ABDA-B730A4EAA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42029"/>
            <a:ext cx="1638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FA451E0-5C33-4766-B164-7C3291A2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127754"/>
            <a:ext cx="557022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MARK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0DE7E9-3D92-4AC5-B1DB-D1F68409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038" y="4099179"/>
            <a:ext cx="917448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TAKE AWAY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853E942-F681-42C1-B133-0AB994B4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59105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2D5F11-19C1-44F8-96B5-A72F0EF9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08325E5-980F-4050-879F-879287C51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3BD6277-B4E7-48CF-81EF-2C7013165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59105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50E49B-87BE-4EEF-B603-9C7B305F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DA23305-BEEF-4E6D-9EBA-E14B0AA8A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F011424-FCEC-4164-9A1B-103F6FD9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59105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C78C86-7896-45F9-BFB5-5876BD85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5E84E6A-F2AA-4309-BF77-E5FF466A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A90375E-DEFC-4DFC-A714-FBA1FC0A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9105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9F1341A-549E-4426-B3AA-3DE3F480A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6B73399-6A62-4899-87E3-F59422D4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1A3523B-78DA-48D8-95B9-26E1AC8E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591050"/>
            <a:ext cx="38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6643767-98F1-4DA9-A705-C77A1171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B909C44-C53C-4D89-B753-CB48DDB8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5910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29AD8C3-F04D-4C1A-904E-A65F57DCE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552950"/>
            <a:ext cx="171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04C7737-F0CF-467F-B24D-870E4AE0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ABED021-9E0D-49E8-968E-BF54F508D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9411D43-CD4E-4E62-8E04-0EE42DAA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8064147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E93AE6-67B4-4371-97D3-D6310010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5BB4BFCB-6688-4FEA-BF88-124A9E39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D087D952-B9EE-44A8-958E-9AF20523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231B2B-BC55-4698-88EA-47456F3D1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533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One Signal,</a:t>
            </a:r>
          </a:p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Six Different Values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7B1438-A2A2-40F0-A80C-DAF909F7F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0500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同一条信号，六种不同价值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1AF893-060C-4EC5-8586-6BFE703F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7429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同一条 Raw Signal，对 Student、Builder、Designer、Founder、VC、Everyday Person 会产生完全不同的意义。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23A154-1C31-467C-80B2-694DB803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71850"/>
            <a:ext cx="30289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5AAEBE-096E-4654-9AE0-7416E240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385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RAW SIGNAL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3F8060-A0BF-4916-B0E4-582EE098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19550"/>
            <a:ext cx="2343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8F0E6"/>
                </a:solidFill>
                <a:latin typeface="Aptos"/>
                <a:ea typeface="Aptos"/>
                <a:cs typeface="Aptos"/>
              </a:rPr>
              <a:t>A new model or workflow shift changes what people can learn, build, fund, design, or use.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E84D06-26D0-4434-A209-CEBC5384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095750"/>
            <a:ext cx="1028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1A26C0-5380-4687-A361-B9184621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2090" y="2619375"/>
            <a:ext cx="71247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01EDF6-79DD-4C90-B922-3A8666C68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4955" y="2762250"/>
            <a:ext cx="58674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CA3732-DC8E-40BC-88B8-364B274F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8298" y="3019806"/>
            <a:ext cx="44005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7620">
            <a:solidFill>
              <a:srgbClr val="15100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467AAB-C6D6-4C28-9E09-19321DB2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8298" y="3019806"/>
            <a:ext cx="44005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7D3A9F-4395-49B5-8E45-E12686FF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0208" y="3158490"/>
            <a:ext cx="14668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7C5F7D-846D-4B0C-99C1-C9CEC80B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0208" y="3222498"/>
            <a:ext cx="23050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0E0578-A4D4-4408-A988-C22C73C2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3115818"/>
            <a:ext cx="4191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685C43-8EE3-4314-AA85-A3A464DD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7147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Student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754005-B890-4226-9134-B03D29DD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9814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What should I learn?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9FD5D5-03EE-4F28-B4B1-2CD22A0D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6140" y="2619375"/>
            <a:ext cx="71247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53A7C7-9E85-4EF0-96E7-0CC0AFEF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9005" y="2762250"/>
            <a:ext cx="58674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95F641-996B-477B-B812-F06C4FA2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2348" y="3019806"/>
            <a:ext cx="44005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7620">
            <a:solidFill>
              <a:srgbClr val="15100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59597F-6F20-4F33-AAF6-C8948752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2348" y="3019806"/>
            <a:ext cx="44005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9928D6-D1C0-4323-BC8E-0DA657138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4258" y="3158490"/>
            <a:ext cx="14668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E15173-488A-4C19-A138-D33AC427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4258" y="3222498"/>
            <a:ext cx="23050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F8186D-A4DF-4AB5-8D71-DC19811D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8105" y="3115818"/>
            <a:ext cx="4191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6FEAC3-EC74-4DB3-814B-2215CF0BC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147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Builder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D5CC80-2C73-45C2-A57C-D537092A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814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What can I build?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1E3964-54AC-426C-8E06-DBFB9E836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0190" y="2619375"/>
            <a:ext cx="71247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A6A760-3210-4A42-9AA9-C0C0E2E7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3055" y="2762250"/>
            <a:ext cx="58674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506143-F0CA-4AFC-81CC-313894C3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6398" y="3019806"/>
            <a:ext cx="44005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7620">
            <a:solidFill>
              <a:srgbClr val="15100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62B778-41E6-43A2-A8B8-1B47CEB3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6398" y="3019806"/>
            <a:ext cx="44005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4AB682-F1E4-4B97-A784-DC35C3D0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8308" y="3158490"/>
            <a:ext cx="14668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D43DC7-92C6-4709-A71F-0BB3C458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8308" y="3222498"/>
            <a:ext cx="23050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907B4B7-7FF7-41E2-BD73-4F1B4DD67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2155" y="3115818"/>
            <a:ext cx="4191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41DAF8-B045-4F07-9713-62D70C1FB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7147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Designer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DC5F806-F56B-4568-A2BD-5108F994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814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How does experience change?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5A5184-A0DC-469F-B7A5-232CD99B6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2090" y="4333875"/>
            <a:ext cx="71247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3A0386-5FED-4781-B301-47F2919C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4955" y="4476750"/>
            <a:ext cx="58674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AEE98A0-CCD8-4FAA-8DB7-908A6CD3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8298" y="4734306"/>
            <a:ext cx="44005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7620">
            <a:solidFill>
              <a:srgbClr val="15100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A4652CE-6311-4122-861B-ECE2E235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8298" y="4734306"/>
            <a:ext cx="44005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6B727CE-3F09-4C4A-84F7-D697B0CD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0208" y="4872990"/>
            <a:ext cx="14668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8213AC8-A9B9-4F77-B959-20417EBE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0208" y="4936998"/>
            <a:ext cx="23050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14AB3B1-F5EE-4A1B-BD61-0A65714F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4830318"/>
            <a:ext cx="4191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17459D0-BB57-4133-BD67-51AF9B97C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4292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Founder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074C0C8-C0EE-4EF3-973E-8EE3E0E16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6959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Where is the opportunity?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BCFB9AD-B35E-458C-A395-161132543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6140" y="4333875"/>
            <a:ext cx="71247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A0B728E-5460-41D8-B4AA-9369DC14F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9005" y="4476750"/>
            <a:ext cx="58674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6A370C7-DFC6-41C8-AFBF-CCA8FFAB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2348" y="4734306"/>
            <a:ext cx="44005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7620">
            <a:solidFill>
              <a:srgbClr val="15100D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CCF4835-4425-46F4-938D-47E97CBE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2348" y="4734306"/>
            <a:ext cx="44005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FF8C664-9FD2-495D-9B58-D747B289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4258" y="4872990"/>
            <a:ext cx="14668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17A464B-4395-4139-83D6-FBBC1F17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4258" y="4936998"/>
            <a:ext cx="23050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292EF45-B8B6-4E80-8E3D-193B5B1A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8105" y="4830318"/>
            <a:ext cx="4191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E9F8190-69B4-4AE8-91B0-13829BDB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4292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VC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86950B6-6965-400F-97F3-D8A62787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6959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How is structure changing?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3F71048-E316-4C99-9165-29DE9D5B0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0190" y="4333875"/>
            <a:ext cx="71247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923045C-0225-4199-A330-8500EF15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3055" y="4476750"/>
            <a:ext cx="58674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8B4936D-2ABB-4815-9887-AA970D3F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6398" y="4734306"/>
            <a:ext cx="44005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7620">
            <a:solidFill>
              <a:srgbClr val="15100D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B6C5080-C2D4-46EC-8F86-59D5C6F9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6398" y="4734306"/>
            <a:ext cx="44005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7A57E72-FD26-451F-AF08-D6EFFC82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8308" y="4872990"/>
            <a:ext cx="14668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07DF453-3413-4EFE-9A9E-F73A9028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8308" y="4936998"/>
            <a:ext cx="23050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0B74AA7-16D2-40AD-B909-37F93A77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2155" y="4830318"/>
            <a:ext cx="4191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5CEA82D-67D7-4132-8165-8064CD6F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4292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050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Everyday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01E3120-408B-4BA5-BBD1-0084BBDE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6959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What changes in life?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B54780C-649D-43BE-B64C-595B0B753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800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The value is not making information shorter. It is translating the same change into different personal meanings.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7EA526F-A92A-4E65-917B-93BD7AEE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1A008DE-C22C-445B-9EBA-12CD653A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6A3820D-4132-4190-BDC7-543CDBE93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6417660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F94955-D669-4AFD-B895-4BD00C467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5620D74F-C579-4FB8-B9F1-EC4BEAEF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F2895533-AD0A-4B09-8369-6B1C6A4B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TECHNOLOGY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7AA442-4BAB-49FD-9981-81F5E37D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590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Stable Today,</a:t>
            </a:r>
          </a:p>
          <a:p xmlns:a="http://schemas.openxmlformats.org/drawingml/2006/main">
            <a:pPr algn="l"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Real-Time Tomorrow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71808E-D56C-4D0A-A624-19900F764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590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今天稳定演示，未来实时接入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7AD8D5-0700-4E05-AFAD-8C6569BCD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533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当前采用预置 xAI / Grok signal bank 保证现场演示稳定，未来可接入实时 Grok / X API。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98B0EB-D5F0-4065-9020-ACBCF6BD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00450"/>
            <a:ext cx="41910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1913"/>
          </a:solidFill>
          <a:ln xmlns:a="http://schemas.openxmlformats.org/drawingml/2006/main" w="11430">
            <a:solidFill>
              <a:srgbClr val="5F514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543D02-E0D7-4FC5-A545-6594EB00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00450"/>
            <a:ext cx="1143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BF48FF-84C9-4D3A-9405-012A20795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48100"/>
            <a:ext cx="2438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Plan B / Stable Demo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650A19-652B-4EB4-A48C-54668BC7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24350"/>
            <a:ext cx="3067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211B"/>
          </a:solidFill>
          <a:ln xmlns:a="http://schemas.openxmlformats.org/drawingml/2006/main" w="9525">
            <a:solidFill>
              <a:srgbClr val="5F514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1E3D96-5A1B-455B-90A9-B02A8A59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24350"/>
            <a:ext cx="3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EF2E7D-9477-4256-8944-D4648936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81500"/>
            <a:ext cx="2895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Preloaded xAI / Grok signal bank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076E5D-D609-4DD8-8578-85117CA3A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053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211B"/>
          </a:solidFill>
          <a:ln xmlns:a="http://schemas.openxmlformats.org/drawingml/2006/main" w="9525">
            <a:solidFill>
              <a:srgbClr val="5F514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43BB3A-CA0D-4776-BB71-97905D6A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05350"/>
            <a:ext cx="3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E72468-98A9-4B1F-A81F-6E916EA4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762500"/>
            <a:ext cx="2305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6 shelves × 9 raw signals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CA5DED-982A-43FD-828F-79E9E692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0"/>
            <a:ext cx="43053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4288">
            <a:solidFill>
              <a:srgbClr val="5F51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1FC4D5-F31C-460D-9CC2-781714D4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0"/>
            <a:ext cx="4305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87E9F5-DAA1-4321-B638-2C845911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335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DEMO STACK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0B09DF-D6CA-416D-9107-1110BBD9F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4D6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8E0439-0F24-4782-AFA5-C0F81C652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1145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Extracted Slice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96ABEA-A752-4D4F-BFAB-5F262A1DC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5336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461D3B-401E-4F65-A807-565736D8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6098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Persona / Density / Hot-Iced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92023F-E4CE-46C6-9AEB-768A65105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289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4D6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48D99E-FB6C-4CBA-9346-997913CBE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051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Brew Result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1F1667-BD56-4ED4-8347-A7E8C333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5242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0F7062-FD2C-4B48-B2BA-2AE83D624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6004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Label / Pick Up page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511AAD-A96F-44AF-8DCF-700E495F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38600"/>
            <a:ext cx="19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4183E1-81B5-42A3-97E5-46844CCF8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1010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Plan A / Real-Time Future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70370F-E818-4789-9114-0BB4F60F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914900"/>
            <a:ext cx="3143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Future Grok / X API</a:t>
            </a:r>
          </a:p>
          <a:p xmlns:a="http://schemas.openxmlformats.org/drawingml/2006/main">
            <a:pPr algn="l">
              <a:defRPr sz="105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Future 50×70mm label printing module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3F5687-5C12-4C67-BE46-2380F0BD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475D11-3506-40DC-8267-BEF86AEE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FE1B79-E1F0-49D9-811A-1541DAE81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0784780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1D555C-73AB-4281-90FC-6323AF38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62c1e7e51a435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4998D3-328F-4CFA-9B0F-55143ABD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191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176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EA9B1B-5274-4BA7-BD4E-294304D7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2229F965-B934-4D93-8736-8E0C1968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F7319B52-9E27-43A0-AAC5-8C0DFFCCF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34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CLOSING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1CEA26-2CDB-4B23-970B-1E4519BB6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51244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Don’t Read</a:t>
            </a:r>
          </a:p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the Age.</a:t>
            </a:r>
          </a:p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Drink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F6AF13-00F2-4746-A268-1C9005B85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743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8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不要只是阅读时代，把它喝下去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0F3CFD-6856-4755-BAAD-5872F30A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4953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Time Slice Coffee 让人们不只是刷到信息，</a:t>
            </a:r>
          </a:p>
          <a:p xmlns:a="http://schemas.openxmlformats.org/drawingml/2006/main">
            <a:pPr algn="l"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而是点单、萃取、理解，并带走一杯属于自己的时代切片。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73245F-2CE6-48EF-B244-61C9991A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57800"/>
            <a:ext cx="400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你今日 fo 了 mo？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04E23F-7D77-416B-99ED-F4E229DC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7215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Don’t read the age. Drink it.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1ABF10-74EC-4232-B04B-FCF07CEC4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746FF8-FA46-46A5-BE53-5EC865D4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7FAD18-FD7D-4D8D-988A-C4DE377F8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182726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2026-05-30T07:49:53.0450000Z</dcterms:created>
  <dcterms:modified xsi:type="dcterms:W3CDTF">2026-05-30T07:49:53.0450000Z</dcterms:modified>
</coreProperties>
</file>
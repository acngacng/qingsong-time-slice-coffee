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195b1718b8b4ab9" /><Relationship Type="http://schemas.openxmlformats.org/officeDocument/2006/relationships/extended-properties" Target="/docProps/app.xml" Id="R7fbcc0fafb9b4c01" /><Relationship Type="http://schemas.openxmlformats.org/officeDocument/2006/relationships/officeDocument" Target="/ppt/presentation.xml" Id="Rb96fdbc6cbba4d1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ba99b603d9f488c"/>
  </p:sldMasterIdLst>
  <p:notesMasterIdLst>
    <p:notesMasterId xmlns:r="http://schemas.openxmlformats.org/officeDocument/2006/relationships" r:id="R8ad8a60e5ca74135"/>
  </p:notesMasterIdLst>
  <p:sldIdLst>
    <p:sldId xmlns:r="http://schemas.openxmlformats.org/officeDocument/2006/relationships" id="256" r:id="Rb91b724b1571436a"/>
    <p:sldId xmlns:r="http://schemas.openxmlformats.org/officeDocument/2006/relationships" id="257" r:id="Rea88733828184612"/>
    <p:sldId xmlns:r="http://schemas.openxmlformats.org/officeDocument/2006/relationships" id="258" r:id="Raf9a6d208bac4051"/>
    <p:sldId xmlns:r="http://schemas.openxmlformats.org/officeDocument/2006/relationships" id="259" r:id="Rf3f85896815343da"/>
    <p:sldId xmlns:r="http://schemas.openxmlformats.org/officeDocument/2006/relationships" id="260" r:id="R9d0f575f87de4b57"/>
    <p:sldId xmlns:r="http://schemas.openxmlformats.org/officeDocument/2006/relationships" id="261" r:id="Rc56e9824f13e4e8c"/>
    <p:sldId xmlns:r="http://schemas.openxmlformats.org/officeDocument/2006/relationships" id="262" r:id="Ra8ef6990714d4122"/>
    <p:sldId xmlns:r="http://schemas.openxmlformats.org/officeDocument/2006/relationships" id="263" r:id="R9095127763fc425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a99b603d9f488c" /><Relationship Type="http://schemas.openxmlformats.org/officeDocument/2006/relationships/theme" Target="/ppt/theme/theme1.xml" Id="Rb8c70dc850e54f56" /><Relationship Type="http://schemas.openxmlformats.org/officeDocument/2006/relationships/notesMaster" Target="/ppt/notesMasters/notesMaster1.xml" Id="R8ad8a60e5ca74135" /><Relationship Type="http://schemas.openxmlformats.org/officeDocument/2006/relationships/presProps" Target="/ppt/presProps.xml" Id="R61df75097b6f4516" /><Relationship Type="http://schemas.openxmlformats.org/officeDocument/2006/relationships/viewProps" Target="/ppt/viewProps.xml" Id="Rc9e97aff3eb142f6" /><Relationship Type="http://schemas.openxmlformats.org/officeDocument/2006/relationships/tableStyles" Target="/ppt/tableStyles.xml" Id="R88cdbc41c42c4bd0" /><Relationship Type="http://schemas.openxmlformats.org/officeDocument/2006/relationships/slide" Target="/ppt/slides/slide1.xml" Id="Rb91b724b1571436a" /><Relationship Type="http://schemas.openxmlformats.org/officeDocument/2006/relationships/slide" Target="/ppt/slides/slide2.xml" Id="Rea88733828184612" /><Relationship Type="http://schemas.openxmlformats.org/officeDocument/2006/relationships/slide" Target="/ppt/slides/slide3.xml" Id="Raf9a6d208bac4051" /><Relationship Type="http://schemas.openxmlformats.org/officeDocument/2006/relationships/slide" Target="/ppt/slides/slide4.xml" Id="Rf3f85896815343da" /><Relationship Type="http://schemas.openxmlformats.org/officeDocument/2006/relationships/slide" Target="/ppt/slides/slide5.xml" Id="R9d0f575f87de4b57" /><Relationship Type="http://schemas.openxmlformats.org/officeDocument/2006/relationships/slide" Target="/ppt/slides/slide6.xml" Id="Rc56e9824f13e4e8c" /><Relationship Type="http://schemas.openxmlformats.org/officeDocument/2006/relationships/slide" Target="/ppt/slides/slide7.xml" Id="Ra8ef6990714d4122" /><Relationship Type="http://schemas.openxmlformats.org/officeDocument/2006/relationships/slide" Target="/ppt/slides/slide8.xml" Id="R9095127763fc425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9149530f563248f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b1de6ca98b74d03" /><Relationship Type="http://schemas.openxmlformats.org/officeDocument/2006/relationships/notesMaster" Target="/ppt/notesMasters/notesMaster1.xml" Id="Rfe0cbc5869ba4f7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3c9a6112ce443b4" /><Relationship Type="http://schemas.openxmlformats.org/officeDocument/2006/relationships/notesMaster" Target="/ppt/notesMasters/notesMaster1.xml" Id="Raccc2d81c133427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98d7ce2b09d4f22" /><Relationship Type="http://schemas.openxmlformats.org/officeDocument/2006/relationships/notesMaster" Target="/ppt/notesMasters/notesMaster1.xml" Id="R4eca895b4483456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c62377fdf03441a" /><Relationship Type="http://schemas.openxmlformats.org/officeDocument/2006/relationships/notesMaster" Target="/ppt/notesMasters/notesMaster1.xml" Id="R916815e329814d9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d687bc9e5884e64" /><Relationship Type="http://schemas.openxmlformats.org/officeDocument/2006/relationships/notesMaster" Target="/ppt/notesMasters/notesMaster1.xml" Id="R44683d004a614c3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03ecbeab5e84ce4" /><Relationship Type="http://schemas.openxmlformats.org/officeDocument/2006/relationships/notesMaster" Target="/ppt/notesMasters/notesMaster1.xml" Id="R407a15f96c74485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9e13fdc15fe4aa3" /><Relationship Type="http://schemas.openxmlformats.org/officeDocument/2006/relationships/notesMaster" Target="/ppt/notesMasters/notesMaster1.xml" Id="R4ff86c16b38f4d6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cc9c3814bcb4128" /><Relationship Type="http://schemas.openxmlformats.org/officeDocument/2006/relationships/notesMaster" Target="/ppt/notesMasters/notesMaster1.xml" Id="Rc2ce30d20b6442c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d63bcc3ec14c43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c7a0691bec624512" /><Relationship Type="http://schemas.openxmlformats.org/officeDocument/2006/relationships/slideLayout" Target="/ppt/slideLayouts/slideLayout2.xml" Id="Rdb6f842faafa4f3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b6f842faafa4f3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034aa1a2c664eea" /><Relationship Type="http://schemas.openxmlformats.org/officeDocument/2006/relationships/image" Target="/ppt/media/image.png" Id="Ra7348ed6beab4822" /><Relationship Type="http://schemas.openxmlformats.org/officeDocument/2006/relationships/notesSlide" Target="/ppt/notesSlides/notesSlide1.xml" Id="Reca047119348414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97cfe5bf3d74dd9" /><Relationship Type="http://schemas.openxmlformats.org/officeDocument/2006/relationships/image" Target="/ppt/media/image2.png" Id="R059c5a88f1714b8a" /><Relationship Type="http://schemas.openxmlformats.org/officeDocument/2006/relationships/notesSlide" Target="/ppt/notesSlides/notesSlide2.xml" Id="R941fe753b2154d9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b2344d57b04f90" /><Relationship Type="http://schemas.openxmlformats.org/officeDocument/2006/relationships/notesSlide" Target="/ppt/notesSlides/notesSlide3.xml" Id="R56d357f00c7445f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179d28ea5e14274" /><Relationship Type="http://schemas.openxmlformats.org/officeDocument/2006/relationships/notesSlide" Target="/ppt/notesSlides/notesSlide4.xml" Id="R93c421e3c7604c1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162d50db7914fc5" /><Relationship Type="http://schemas.openxmlformats.org/officeDocument/2006/relationships/image" Target="/ppt/media/image3.png" Id="R865a90e25f0a4219" /><Relationship Type="http://schemas.openxmlformats.org/officeDocument/2006/relationships/notesSlide" Target="/ppt/notesSlides/notesSlide5.xml" Id="Rdc27a7ac60304e3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5592136438487d" /><Relationship Type="http://schemas.openxmlformats.org/officeDocument/2006/relationships/notesSlide" Target="/ppt/notesSlides/notesSlide6.xml" Id="R8f9880a706f44e5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8d1c14a31994159" /><Relationship Type="http://schemas.openxmlformats.org/officeDocument/2006/relationships/notesSlide" Target="/ppt/notesSlides/notesSlide7.xml" Id="Rd8f5710be15b400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1c230d21474663" /><Relationship Type="http://schemas.openxmlformats.org/officeDocument/2006/relationships/image" Target="/ppt/media/image4.png" Id="R3487e13434524733" /><Relationship Type="http://schemas.openxmlformats.org/officeDocument/2006/relationships/notesSlide" Target="/ppt/notesSlides/notesSlide8.xml" Id="R0b42562cedf2451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4ECE274-897C-441B-8F07-25BA20664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348ed6beab482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09EEAE-3E82-401D-992C-5C1C8C088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>
              <a:alpha val="9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F26266-FBF8-4366-9FEB-792F69108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1-marker">
            <a:extLst xmlns:a="http://schemas.openxmlformats.org/drawingml/2006/main">
              <a:ext uri="{FF2B5EF4-FFF2-40B4-BE49-F238E27FC236}">
                <a16:creationId xmlns:a16="http://schemas.microsoft.com/office/drawing/2014/main" id="{85157572-15A7-43BF-9FB0-7EFD94286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01-label">
            <a:extLst xmlns:a="http://schemas.openxmlformats.org/drawingml/2006/main">
              <a:ext uri="{FF2B5EF4-FFF2-40B4-BE49-F238E27FC236}">
                <a16:creationId xmlns:a16="http://schemas.microsoft.com/office/drawing/2014/main" id="{18D87020-A542-486B-BB2B-8AE60F508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524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HACKATHON PITCH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72485F-B8CA-4D09-8778-1166A4650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4762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Time Slice</a:t>
            </a:r>
          </a:p>
          <a:p xmlns:a="http://schemas.openxmlformats.org/drawingml/2006/main">
            <a:pPr algn="l">
              <a:defRPr sz="4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Coffee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73BAE3-4439-4588-B05D-CD34A252B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47950"/>
            <a:ext cx="4762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330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你今日 fo 了 mo？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522FBE-ECFA-4DF4-B61D-84561BAED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4686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rPr>
              <a:t>把今天真正重要的一则变化，</a:t>
            </a:r>
          </a:p>
          <a:p xmlns:a="http://schemas.openxmlformats.org/drawingml/2006/main">
            <a:pPr algn="l">
              <a:def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rPr>
              <a:t>装进一杯咖啡里。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46AD1E-716C-45F4-ADB5-46D936E13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33900"/>
            <a:ext cx="31432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12383">
            <a:solidFill>
              <a:srgbClr val="15100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5CD377-328E-44BD-BD7A-7F73FA206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33900"/>
            <a:ext cx="314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2483A5-0331-462E-B3E5-9E9F17329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10100"/>
            <a:ext cx="182308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B68714-E102-4F22-B684-9419C5235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61962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4C5C25-7010-4717-8BD0-20F48C8A8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6035" y="4619625"/>
            <a:ext cx="100584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TS-001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EFA0AE-8373-4121-97E9-79991C2B7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5775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5D4DEA-D775-4D9C-81BD-352792643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02556"/>
            <a:ext cx="1100137" cy="7360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SHELF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98B0E7-D826-4496-A5A7-064209668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7385" y="4889754"/>
            <a:ext cx="1728788" cy="8961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3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3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AI Frontier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CBC63F-A5B7-4788-B64F-2E15212C5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1777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6D63EA-3416-489A-9C2B-54F239A62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62576"/>
            <a:ext cx="1100137" cy="7360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PERSONA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89812B-EC7C-4A5E-83F1-B80446977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7385" y="5049774"/>
            <a:ext cx="1728788" cy="8961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3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3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Builder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0D065C-5C20-4447-B101-AADFAA6E6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7779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C908E6-D74C-43EE-AEB8-DA5B3D2BE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22596"/>
            <a:ext cx="1100137" cy="7360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DENSITY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94B22F-F2FD-4737-BA67-5C6ABDFCE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7385" y="5209794"/>
            <a:ext cx="1728788" cy="8961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3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3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Regular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99DC4F-D07F-49FD-B199-F703863DF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3781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00B3F3-3802-442F-8FA9-37F6E3E8D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82616"/>
            <a:ext cx="1100137" cy="7360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SERVED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AEF1EE-A728-4DC5-8ECF-349DBC673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7385" y="5369814"/>
            <a:ext cx="1728788" cy="8961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3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3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Hot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13AF72-C4CC-4AFB-BE87-F952970B8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9783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13799E-8187-4B29-81B5-CBFEA63B8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42636"/>
            <a:ext cx="1100137" cy="7360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TODAY'S SLICE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29F002-CD75-48DD-88DD-38EE02037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7385" y="5529834"/>
            <a:ext cx="1728788" cy="8961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3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3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What changed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6F14D9-8D10-4CE2-9128-65DEA66FB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34050"/>
            <a:ext cx="3238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73D597-1A2F-45C6-B091-0C4DA689D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8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3F4682-3267-4B3E-BF17-83859A9A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6D3D4FC-EA92-46BC-8D55-96793CFA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3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EF26CBE-9B88-4B2C-8769-1E28255AA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3238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1E16CBF-19BA-44F4-BC77-2D9495DE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8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70DE370-93BC-4599-A515-A341C3249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34DD218-2C1A-4827-BB9F-D3F6749B8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3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798320-0A69-4646-8B56-6EAEF33AB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734050"/>
            <a:ext cx="3238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392EE8E-1028-4CF9-8C91-6A1E7E362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8738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41F7BBF-740F-457A-B85C-359FC6015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91035D7-ABF4-4BDE-8572-9D0E437B5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3513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0457267-28E3-4D47-A08E-13B5019CD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734050"/>
            <a:ext cx="3238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CA71A70-F856-4DEC-9988-9AC7B0937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8288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B6B3CA8-4F3E-4239-9636-CAB79517E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BF9DD93-DA04-462C-9049-E1E063885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063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E801ECB-2A22-4BAB-B435-7FF1C2C29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724525"/>
            <a:ext cx="1333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3AF977D-D68D-4892-9C46-8E3190881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895850"/>
            <a:ext cx="1428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4191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41913"/>
                </a:solidFill>
                <a:latin typeface="Aptos"/>
                <a:ea typeface="Aptos"/>
                <a:cs typeface="Aptos"/>
              </a:rPr>
              <a:t>An information consumer product</a:t>
            </a:r>
          </a:p>
          <a:p xmlns:a="http://schemas.openxmlformats.org/drawingml/2006/main">
            <a:pPr algn="l">
              <a:defRPr sz="1050" b="0">
                <a:solidFill>
                  <a:srgbClr val="24191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41913"/>
                </a:solidFill>
                <a:latin typeface="Aptos"/>
                <a:ea typeface="Aptos"/>
                <a:cs typeface="Aptos"/>
              </a:rPr>
              <a:t>for the AI age.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B0FC2AC-1DC8-43C1-889F-4F6C3B759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A049365-310F-430B-B6DD-716EFE685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3A3CB2C-EC9E-41D5-B377-0B955CBB4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9362117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41D718-76A7-44CE-B095-9C16D6E9A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9c5a88f1714b8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4876C6-A4E5-4DE7-8EA2-5AEE1E790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715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>
              <a:alpha val="9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B65E55-3520-4024-A2C6-FD65D04E6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>
              <a:alpha val="1333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8C2B925F-69BF-4E4C-A4AF-DE0BD45B5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43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58D05A21-12A7-4A3C-82F1-593750F20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PROBLEM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31FD98-2E2A-4256-A783-41EC13F91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4762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Every Signal</a:t>
            </a:r>
          </a:p>
          <a:p xmlns:a="http://schemas.openxmlformats.org/drawingml/2006/main">
            <a:pPr algn="l">
              <a:defRPr sz="330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Pretends to Matter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A788B4-028D-472C-BD76-51DEFD7C4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28850"/>
            <a:ext cx="476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rPr>
              <a:t>每一条信息都装作自己很重要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29C4C3-32B9-4DDC-9075-06508AFED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19450"/>
            <a:ext cx="4648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rPr>
              <a:t>AI 时代的问题不是信息不够，</a:t>
            </a:r>
          </a:p>
          <a:p xmlns:a="http://schemas.openxmlformats.org/drawingml/2006/main">
            <a:pPr algn="l">
              <a:def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rPr>
              <a:t>而是每天都有太多数据信号在制造 FOMO。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044FA2-A32D-453D-9EA5-181A860B0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57700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574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52952F-DA4A-4386-BD8D-E9EE8F48E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3962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8CDB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CDBE"/>
                </a:solidFill>
                <a:latin typeface="Aptos"/>
                <a:ea typeface="Aptos"/>
                <a:cs typeface="Aptos"/>
              </a:rPr>
              <a:t>People fear missing out, falling behind, or being replaced. The pressure comes from too many signals pretending to be urgent.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F2B93F-B5F2-4B8A-B7FA-59FA1B864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895350"/>
            <a:ext cx="17526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>
              <a:alpha val="65882"/>
            </a:srgbClr>
          </a:solidFill>
          <a:ln xmlns:a="http://schemas.openxmlformats.org/drawingml/2006/main" w="9525">
            <a:solidFill>
              <a:srgbClr val="6B5748"/>
            </a:solidFill>
            <a:prstDash val="solid"/>
          </a:ln>
        </p:spPr>
        <p:txBody>
          <a:bodyPr xmlns:a="http://schemas.openxmlformats.org/drawingml/2006/main" lIns="114300" tIns="114300" rIns="114300" bIns="1143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AI UPDATE</a:t>
            </a:r>
          </a:p>
          <a:p xmlns:a="http://schemas.openxmlformats.org/drawingml/2006/main">
            <a:pPr algn="l"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MARKET ALERT</a:t>
            </a:r>
          </a:p>
          <a:p xmlns:a="http://schemas.openxmlformats.org/drawingml/2006/main">
            <a:pPr algn="l"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WORKFLOW SHIFT</a:t>
            </a:r>
          </a:p>
          <a:p xmlns:a="http://schemas.openxmlformats.org/drawingml/2006/main">
            <a:pPr algn="l"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MODEL RELEASE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0701A1-3472-4A56-921B-1689426F8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48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80A2F8-E88D-48B0-8517-3573177CF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69410B-219F-4325-896E-DC3A996F2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6439436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83D94D-2E3B-43D5-A209-E52FEB13E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033B4960-5927-4D86-AE19-04DC28F64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43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47460E66-B437-4411-BAFB-BD8F9FF62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INSIGHT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D5ED35-EC37-49DF-9C02-4834AA2A8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590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Understanding</a:t>
            </a:r>
          </a:p>
          <a:p xmlns:a="http://schemas.openxmlformats.org/drawingml/2006/main">
            <a:pPr algn="l"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Becomes a Product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755435-AF2B-4F27-9775-99B0FF9AF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33600"/>
            <a:ext cx="590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理解，正在变成一种消费品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39519A-B1F7-4EE0-961F-9D414E72E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422910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过去，</a:t>
            </a:r>
          </a:p>
          <a:p xmlns:a="http://schemas.openxmlformats.org/drawingml/2006/main">
            <a:pPr algn="l"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人们买水是为了解渴。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后来，</a:t>
            </a:r>
          </a:p>
          <a:p xmlns:a="http://schemas.openxmlformats.org/drawingml/2006/main">
            <a:pPr algn="l"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人们购买品牌、身份和生活方式。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而 AI 时代，</a:t>
            </a:r>
          </a:p>
          <a:p xmlns:a="http://schemas.openxmlformats.org/drawingml/2006/main">
            <a:pPr algn="l"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人们开始购买：</a:t>
            </a:r>
          </a:p>
          <a:p xmlns:a="http://schemas.openxmlformats.org/drawingml/2006/main">
            <a:pPr algn="l"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对这个时代的理解。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606138-BB52-4ED6-B041-AD90EC5C3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429000"/>
            <a:ext cx="5067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552169-68A5-4A30-B4C5-816305927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419350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FB9253-D03D-41EA-AAC9-BB81ADA5F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6098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5FD1D0-0451-4D2B-A8E8-6601C4670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71462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AAFDA8-8B84-4C96-88E5-0ACF0421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Water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E3C904-1504-443B-AF71-48156F510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448050"/>
            <a:ext cx="1085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解渴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FBC916-3717-4E62-9064-6D122556F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419350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B2BF8F-2FD9-44D8-8E5C-0F887A2AC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6098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32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D89329-D666-4BFF-A841-AB4978DE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71462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2DC51B-2C23-466B-9F54-F703AACF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6230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Brand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326B25-2646-4EF5-B419-D53FCCE5D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448050"/>
            <a:ext cx="1085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身份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DE81A6-8AE8-4094-868C-21C2EA9FF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419350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E2062D-4432-4F07-B771-777B181C4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6098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573613-AEA4-4904-B8D6-9CD99D80B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71462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584D5F-822C-4369-AD1E-C067FD84F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16230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Coffee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DC4C33-16B6-4D3D-B0B5-DA12E0617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448050"/>
            <a:ext cx="1085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生活方式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8AADEB-4941-4A87-844C-1461F3E09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152900"/>
            <a:ext cx="1809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17145">
            <a:solidFill>
              <a:srgbClr val="15100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0791CF-B3B3-416E-AF55-871B6F46F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15290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CA18CD-DC23-443A-B1C4-7679ABBE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248150"/>
            <a:ext cx="1066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NEW CATEGORY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89EF5E-92A9-4672-8F69-B923068B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6291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A81A16-8462-4B6F-8A73-3210A4855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73392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rPr>
              <a:t>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E49451-16F6-4984-BB78-A233D9503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62550"/>
            <a:ext cx="1466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Info Coffee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E3FA0B7-7A8F-4FCE-AF1D-407965D03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429250"/>
            <a:ext cx="1466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5482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5482E"/>
                </a:solidFill>
                <a:latin typeface="Aptos"/>
                <a:ea typeface="Aptos"/>
                <a:cs typeface="Aptos"/>
              </a:rPr>
              <a:t>时代理解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7FE452-C11F-41BE-BED2-5C90E1EE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838450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9EC774-CEFB-498F-80DB-D7CD714A2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686300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C031C43-18F1-4816-AD75-85FC92B58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5905500"/>
            <a:ext cx="504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4191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41913"/>
                </a:solidFill>
                <a:latin typeface="Aptos"/>
                <a:ea typeface="Aptos"/>
                <a:cs typeface="Aptos"/>
              </a:rPr>
              <a:t>Packaged understanding becomes a product.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73F8DD2-6ADC-4B36-8658-6AEAFF183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DCB41FD-B303-40E6-9F38-B2789AA84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7BEB9FE-DD8A-4548-BD96-7E1E7D680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84018611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13803A-43B6-40E1-99A1-C686DACE8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4-marker">
            <a:extLst xmlns:a="http://schemas.openxmlformats.org/drawingml/2006/main">
              <a:ext uri="{FF2B5EF4-FFF2-40B4-BE49-F238E27FC236}">
                <a16:creationId xmlns:a16="http://schemas.microsoft.com/office/drawing/2014/main" id="{148384CE-D54A-443F-BEFD-13A120BB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43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4-label">
            <a:extLst xmlns:a="http://schemas.openxmlformats.org/drawingml/2006/main">
              <a:ext uri="{FF2B5EF4-FFF2-40B4-BE49-F238E27FC236}">
                <a16:creationId xmlns:a16="http://schemas.microsoft.com/office/drawing/2014/main" id="{3AA2211D-04B2-4F3B-B4FD-B1C0BD98C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PRODUCT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79682E-5319-46F3-B8C2-41A99CBA9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4171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15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An Information</a:t>
            </a:r>
          </a:p>
          <a:p xmlns:a="http://schemas.openxmlformats.org/drawingml/2006/main">
            <a:pPr algn="l">
              <a:defRPr sz="315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15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Coffee Bar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22D41E-A935-4AA8-AF6F-A8798233A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4171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15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for the AI Age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B1DA48-D99D-4570-BCF2-37A925C53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90850"/>
            <a:ext cx="3619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rPr>
              <a:t>AI 时代的信息咖啡吧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552B23-8BE8-4775-8C33-6C73DBB29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4629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rPr>
              <a:t>Time Slice Coffee 把真实信息流中的重要变化，</a:t>
            </a:r>
          </a:p>
          <a:p xmlns:a="http://schemas.openxmlformats.org/drawingml/2006/main">
            <a:pPr algn="l">
              <a:def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rPr>
              <a:t>萃取成不同身份可理解、可带走的时代信息切片咖啡。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E44C71-2DBA-4810-9150-1859AD6B2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101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C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CDBE"/>
                </a:solidFill>
                <a:latin typeface="Aptos"/>
                <a:ea typeface="Aptos"/>
                <a:cs typeface="Aptos"/>
              </a:rPr>
              <a:t>We turn reading information into ordering a cup.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F6FF23-58BD-4846-8FC7-40837D2E2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742950"/>
            <a:ext cx="5334000" cy="491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19050">
            <a:solidFill>
              <a:srgbClr val="6B574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CE73AF-667A-4266-9C20-9CCD6FE3B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742950"/>
            <a:ext cx="5334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19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B9DB08-0600-4336-ACB9-4D97DFF88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952500"/>
            <a:ext cx="200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165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TODAY'S MENU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FCF8D5-B66D-498D-B259-06948D49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009650"/>
            <a:ext cx="2324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CDBFAE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DBFAE"/>
                </a:solidFill>
                <a:latin typeface="Aptos Mono"/>
                <a:ea typeface="Aptos Mono"/>
                <a:cs typeface="Aptos Mono"/>
              </a:rPr>
              <a:t>6 shelves × identity × density × serve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B77490-9AFC-4EC6-BE99-44ADC81F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695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3F5F6B-2F55-472E-8661-F9930928E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6954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E3868E-97C7-4484-8EFA-46E20586A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17716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AI Frontier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71FEA9-5887-4CBA-AC0D-2992D0042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19621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AI 前沿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603EE7-B649-4F01-9343-0BA8DA275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95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878C68-235B-4241-B943-640AEA22D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954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AE740B-EF5E-4CAE-AF64-B84E5A20F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7716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Build &amp; Workflow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E7E657-5E68-4B17-8C79-D3AB262F3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9621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构建工作流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6AEE32-5AA1-4639-A212-2B29771C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193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9E90C9-E7A7-4516-9846-59DEE46A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193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41570D-4669-4C49-93FD-0C3A8F5F3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4955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Design &amp; Creation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113DAE1-73EA-4148-A208-0EA23116A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6860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设计创作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35E360-E650-4FA1-BDF3-C5132A617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193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543921-D1AA-44C2-80BA-DA168D2AF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193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AEC021-3DAC-4A2C-A75C-6182D4A25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4955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Market &amp; Capital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A7B4AB-DF39-49C9-B5F2-236E04937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6860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市场资本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05EB15-45ED-4E7C-A63C-003A332FF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1432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57FB1F-324B-4DD9-9E31-684AD4C77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1432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DF3303-6B18-4716-8FED-EEB6DB9AC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2194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Self Upgrade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A72AE60-9789-4B2B-942A-D8CAD3A5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4099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自我升级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06DB544-CCA3-4A76-B6D8-AE0B31B82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432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918B758-93F7-47EE-9330-0676B5D35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432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A9E0E75-5A79-4AEA-B9D0-BC904CFE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2194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Life Signals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A5C20F2-10D6-438B-A10E-CA546D06E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4099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生活信号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623E117-9B18-4B1B-802D-81A204465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943350"/>
            <a:ext cx="44577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5B7663D-9564-4E2D-8464-F0929B99D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1480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5482E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B5482E"/>
                </a:solidFill>
                <a:latin typeface="Aptos Mono"/>
                <a:ea typeface="Aptos Mono"/>
                <a:cs typeface="Aptos Mono"/>
              </a:rPr>
              <a:t>ORDER RECEIPT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B2F2496-990E-40D7-8D26-E0FAEF169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114800"/>
            <a:ext cx="2419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Information coffee is ordered as a label schema.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F4B7BC1-3259-4BE4-8733-A79F25E41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3865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57F590C-5458-4CD9-B4A8-8C35CE93D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386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E251785-FF12-4805-AFC6-099D1ECCF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86275"/>
            <a:ext cx="1638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01  SHELF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493751C-4018-4ECA-BC1A-E2D0B7FB0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3865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89AD7C0-EAB3-4DE3-85A6-D76FA5F33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386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BFE9BC6-83DF-4B3A-84C8-45DDEF414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486275"/>
            <a:ext cx="1638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02  RAW SIGNAL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005F460-78C0-431A-8610-3DE38D652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2440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6B60E98-D1C2-4F75-B66F-6A7E79FF8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244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89A95DC-A12C-4981-95D3-64388B37F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72025"/>
            <a:ext cx="1638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03  PERSONA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CD31FEE-D14E-4B7A-B833-1716F7D90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2440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716AB2F-4544-4157-919F-492A475DA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244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5B6802B-0C2B-430A-87BF-5D4ED6158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772025"/>
            <a:ext cx="1638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04  DENSITY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6BC17A8-772E-40BC-B805-9D5325C54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1015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E8908C8-876C-4AB0-ABC0-C05777F6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101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A09FA40-375F-4EE0-A380-00FBAF412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57775"/>
            <a:ext cx="1638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05  SERVED MODE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618DE4F-DAB1-4F5C-9317-37704EB21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01015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20E1039-A934-492E-857C-BB5F37695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0101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6CFC493-DA2B-4232-8F15-16A8C6B70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057775"/>
            <a:ext cx="1638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06  BREW RESULT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3325997-7B53-404C-A62C-D2136A98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48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8BA9455-F2E9-4095-86CB-0C985F2E3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4B14766-C909-4AD1-8A5D-69459B74A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8498679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69F7DA-EA3F-4749-A65A-A4E8B8616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5a90e25f0a421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43A0DC-E7EB-4643-AC5A-EDF9910C2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>
              <a:alpha val="9176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C5C478-113D-43DA-959B-2EC0491BF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19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>
              <a:alpha val="6588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5-marker">
            <a:extLst xmlns:a="http://schemas.openxmlformats.org/drawingml/2006/main">
              <a:ext uri="{FF2B5EF4-FFF2-40B4-BE49-F238E27FC236}">
                <a16:creationId xmlns:a16="http://schemas.microsoft.com/office/drawing/2014/main" id="{2ADAF043-8D5D-4610-BEB9-0E97954A8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00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05-label">
            <a:extLst xmlns:a="http://schemas.openxmlformats.org/drawingml/2006/main">
              <a:ext uri="{FF2B5EF4-FFF2-40B4-BE49-F238E27FC236}">
                <a16:creationId xmlns:a16="http://schemas.microsoft.com/office/drawing/2014/main" id="{C82A4316-4B52-4211-B319-FD38D4D16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00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WORKFLOW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D2972E-FE99-40BD-BB76-0DFB4E2C1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590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From Raw Signal</a:t>
            </a:r>
          </a:p>
          <a:p xmlns:a="http://schemas.openxmlformats.org/drawingml/2006/main">
            <a:pPr algn="l"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to Brew Result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64760F-A774-4BFA-8EEE-F67D9EFCA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590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从原始信号到一杯信息咖啡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C676CA-0C97-40DC-B83E-60AC0018B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86000"/>
            <a:ext cx="8058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>
              <a:alpha val="8470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81469F-CC1F-4929-8C70-0B3AB70C1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6220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Raw Signal → Extracted Slice → Persona → Density → Served Mode → Brew Result → Label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B6030A-3CF2-4052-9EFF-9EE0966BE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619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241913"/>
                </a:solidFill>
                <a:latin typeface="Aptos Mono"/>
                <a:ea typeface="Aptos Mono"/>
                <a:cs typeface="Aptos Mono"/>
              </a:defRPr>
            </a:pPr>
            <a:r>
              <a:rPr sz="1013" b="0">
                <a:solidFill>
                  <a:srgbClr val="241913"/>
                </a:solidFill>
                <a:latin typeface="Aptos Mono"/>
                <a:ea typeface="Aptos Mono"/>
                <a:cs typeface="Aptos Mono"/>
              </a:rPr>
              <a:t>Extraction + identity translation + concentration control + serving mode + packaging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F62C24-355F-448B-81B0-CB76293A1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67050"/>
            <a:ext cx="1066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1024F6-336D-4CE3-B1DE-452FD11DF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670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CD0568-FC98-449C-A7E5-49642006E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114675"/>
            <a:ext cx="9144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PERSONA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249B98-5876-4AFD-A18F-ECEA189E7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067050"/>
            <a:ext cx="1066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CFBCA1-E24C-4471-9AAB-7E4590E72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0670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DEA7D2-86AC-4530-8B6A-FD02A3931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114675"/>
            <a:ext cx="9144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DENSITY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2544DA-887F-477C-A8E3-8F9C63077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67050"/>
            <a:ext cx="1295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B7F973-C15D-415A-97EB-46BA081C4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670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2240FB-F7DB-4029-8EA6-CC0AFC585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114675"/>
            <a:ext cx="1143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SERVED MODE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A118D6-8E54-4976-9793-2F4EDF4C9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19700"/>
            <a:ext cx="1638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118"/>
            </a:srgbClr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D88FC9-DA80-4C3E-BC0D-5F451E185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19700"/>
            <a:ext cx="57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C813BC-835D-418C-902B-1DED5C39B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305425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RAW SIGNAL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8AFB72-BE32-4784-B8B4-57D2C0919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219700"/>
            <a:ext cx="1638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118"/>
            </a:srgbClr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9CCBC2-41F7-4533-A5EE-BB2F76542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219700"/>
            <a:ext cx="57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F4ADDA-929E-4476-B062-CD4C7DCA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305425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EXTRACTED SLICE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478DD6-FA59-4511-BE85-286835627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219700"/>
            <a:ext cx="1638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118"/>
            </a:srgbClr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C8E139-FD59-4CF4-A942-58CF32450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219700"/>
            <a:ext cx="57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6547F3-7AB1-4D30-BDF4-E222C7B0A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305425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BREW RESULT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6E88F7-2C6F-4F37-BFDE-FA9ECCC13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219700"/>
            <a:ext cx="1638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118"/>
            </a:srgbClr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222BAE1-DB3D-46E5-A15C-171397842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219700"/>
            <a:ext cx="57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098E676-AC1E-44F2-B557-220BDA0A0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305425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LABEL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C0BCFA1-2CFF-4DF0-B46E-488F5AA19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876550"/>
            <a:ext cx="188595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12383">
            <a:solidFill>
              <a:srgbClr val="15100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97EB882-3C87-46C2-A4F1-21405799D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876550"/>
            <a:ext cx="1885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BCF183B-B0D4-4807-B4CE-418738EBC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52750"/>
            <a:ext cx="1093851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3F87352-8039-4CE7-A6EC-039DEC84B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9622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02F9F87-E5D5-4D99-B6CE-E983780F6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3551" y="2962275"/>
            <a:ext cx="603504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TS-042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B305334-1942-49EB-AF64-49DA5C140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76600"/>
            <a:ext cx="1885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0CCD0CC-D206-4C6C-B12F-016818B6D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50209"/>
            <a:ext cx="660083" cy="1209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EXTRACTED SLICE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86CD20-D4A2-4859-B25F-52E311229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6361" y="3329178"/>
            <a:ext cx="1037273" cy="147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What changed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5DC06A1-1F7A-44BC-B9D0-D0F1B1710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539490"/>
            <a:ext cx="1885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56F6760-C760-4BC0-8B2E-2D15CEFC2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613099"/>
            <a:ext cx="660083" cy="1209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PERSONA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28327F9-3BE2-4489-BAA0-2A873AD73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6361" y="3592068"/>
            <a:ext cx="1037273" cy="147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Builder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C33A009-0DD9-44EF-96A3-BECE4B595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802380"/>
            <a:ext cx="1885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D94489A-D1F5-44CB-863F-D43D44F22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875989"/>
            <a:ext cx="660083" cy="1209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DENSITY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7AEE5E6-35F2-4E20-BD5A-8317EE8B1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6361" y="3854958"/>
            <a:ext cx="1037273" cy="147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Regular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AD3EA8C-07D1-456E-94BF-51926F47C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065270"/>
            <a:ext cx="1885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487050B-8C81-48A3-BC84-DD109A455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138879"/>
            <a:ext cx="660083" cy="1209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SERVED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12D6CC7-6969-41DF-B30E-3EBBB781E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6361" y="4117848"/>
            <a:ext cx="1037273" cy="147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Hot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F9C1696-9CDD-4DB6-9FF9-0B180BEE6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328160"/>
            <a:ext cx="1885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AF98402-655F-4E1D-A25C-163B0D7F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401769"/>
            <a:ext cx="660083" cy="1209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BREW RESULT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A9A8219-D57B-4E96-81C7-C92E9253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6361" y="4380738"/>
            <a:ext cx="1037273" cy="147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For you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1D076CA-7B93-4F0E-B477-1032A1110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667250"/>
            <a:ext cx="3238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3592FCA-7C3E-4632-BD10-2F000BE77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6388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63984B4-CEF4-4835-9617-498DF680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BF18F04-4AD3-4A40-B09D-89C9874D2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1163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09457C5-0D83-4C0D-8AA3-D052F788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67250"/>
            <a:ext cx="3238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A95E977-6DCF-4FB9-844A-94B1ED705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5938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BDB6285-06CA-4FD9-A73A-4118F00FE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33ED645-6A4C-499E-8B1A-77E8C7656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0713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A55CB86-3D5B-4A89-AA26-891B90F5F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667250"/>
            <a:ext cx="3238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51BD5AD-02C7-4788-A7BD-8A2D9D9D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5488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5EEB888-0EAA-47FC-9018-F0CC87BE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E164256-F7FB-4CAA-827E-67AA9AFC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0263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AA65398-711A-4FF0-B05A-E348D43AF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667250"/>
            <a:ext cx="3238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E5C435F-59D0-4F25-96B5-C22FAE9BA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5038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3EDFDDB-B825-4314-B3E1-46BD0062B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11CB9A9-F088-49BD-9F03-F96FDAE6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9813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89E4517-2FF0-440C-951B-B29EDBB9F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657725"/>
            <a:ext cx="1333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D012603-2CB9-42C1-AE87-E8D4165C6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E378814-4348-4997-93A9-3EDFBA07F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0D5A205-B4E4-4289-ADF4-B215887EB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487959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4CFC48F-D878-46AE-A80F-F30C11BD1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FB7D9F5C-A910-480F-A254-96AE4EE54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62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BC185C1F-431C-416A-9417-D46C7002A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62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EACBB3-B530-4251-857F-BE50460CA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533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One Signal,</a:t>
            </a:r>
          </a:p>
          <a:p xmlns:a="http://schemas.openxmlformats.org/drawingml/2006/main">
            <a:pPr algn="l"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Six Different Values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DCA3E1-0FEC-4F72-92F4-32E9C17DC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81200"/>
            <a:ext cx="533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同一条信号，六种不同价值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DBE81A-5B3F-4B17-88BD-DF14A5E28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81250"/>
            <a:ext cx="628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650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rPr>
              <a:t>同一条 Raw Signal，被翻译成六种可带走的个人意义。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24136D-3C15-4AD0-9F48-0981E5A44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00400"/>
            <a:ext cx="4000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68541F-CDBA-40DA-8283-F5C717CB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4671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5482E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B5482E"/>
                </a:solidFill>
                <a:latin typeface="Aptos Mono"/>
                <a:ea typeface="Aptos Mono"/>
                <a:cs typeface="Aptos Mono"/>
              </a:rPr>
              <a:t>RAW SIGNAL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5E01A1-F42E-420F-A2D4-7A431343C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810000"/>
            <a:ext cx="2990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8F0E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8F0E6"/>
                </a:solidFill>
                <a:latin typeface="Aptos"/>
                <a:ea typeface="Aptos"/>
                <a:cs typeface="Aptos"/>
              </a:rPr>
              <a:t>A new model or workflow shift changes what people can learn, build, fund, design, or use.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411DC6-82EE-4093-A5FD-0B63C8DD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857625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1E8090-85D0-429B-A564-058F6E594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57625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7DEFF0-D8B8-4E93-BB5D-047E51990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2476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92A7EB-FD9C-476B-8B01-B23FCF66F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5DE1E9-1603-411A-A3C8-FFCD9AD17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1238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BFF847-6F03-4F31-9AF6-9BDE275E5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990850"/>
            <a:ext cx="285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STU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6A1AC7-C0F8-4CB5-B4C4-EC37B1955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990850"/>
            <a:ext cx="76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91FDDB-9A1B-4E9E-AC91-673D8A33E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6AC22C-068F-4393-BCA6-5BB89146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7660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PERSONA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589C5B-B7F9-43D5-8075-ADA0B2962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238500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Student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CD2B8B-4DB6-4A3F-B769-281C1774B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77B2C8-5043-4D57-9EF4-F6F3B6F5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8140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VALUE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8BF13F-DD9C-4D1E-873B-B544754FC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524250"/>
            <a:ext cx="1562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What should I learn next?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08600A-F243-4406-A71A-61A66A96E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57600"/>
            <a:ext cx="381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7E4FA2-69DF-4821-9E21-BF95D526D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638550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FD64B2-96FE-4784-AF60-309DCD2AA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2476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4D93BC-9E4C-487F-A57B-28C0BB202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95163AE-4F5C-4A2C-AAED-5BEFDEE3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14800"/>
            <a:ext cx="1238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9161EA-F2A2-4BA1-B193-5BC656978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114800"/>
            <a:ext cx="285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DES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803FB24-B6BA-4787-A9B9-6D1FCFE29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114800"/>
            <a:ext cx="76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2D2A467-AE0D-4218-B220-0031D9ACA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D5E923C-0328-4B18-9FFF-1F3C93AF8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0055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PERSONA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576282D-EEC9-4FAE-8414-BA3C9FA8F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362450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Designer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7E4F67A-9AC9-4AF7-B892-0105CDDD9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D568A05-50C3-476C-8978-60D0292D9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0535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VALUE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FFBE824-DC3D-472F-995C-2E6DB090C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648200"/>
            <a:ext cx="1562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How will experience change?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F27FBC7-C44D-40E8-BA87-46B10AC0E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81550"/>
            <a:ext cx="381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3AE88FC-E173-4497-AE62-42FB2248E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762500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AC83E21-BC6C-4C13-8C2F-4739B96F0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2476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453B36B-7BD0-43D4-A13E-91A1D761F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CC59E9A-C6D9-4DF7-8730-E583A0871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38750"/>
            <a:ext cx="1238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8923614-1D68-42C5-B190-C55CBE7B3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5238750"/>
            <a:ext cx="285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FOU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DD77429-8D50-482B-A78D-CAF81086E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238750"/>
            <a:ext cx="76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32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2E124E7-F1C1-4C14-A6F3-A7339CF4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98F3E00-76AF-45A5-AABC-1D3068142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PERSONA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1BD7081-6E2A-4F59-A526-03D7F6348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486400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Founder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4BE8325-30E4-4E70-B613-BCF3F761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2E12A01-5B14-4B97-81A0-30D719ABA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2930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VALUE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04F4FFA-9596-4B33-93D2-52314D084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772150"/>
            <a:ext cx="1562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Where is the opportunity?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80123AB-D8AE-4A30-8D6A-55C33959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381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907B3B6-0BF8-4ADD-91A9-72C2DCCDA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886450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32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016A797-E71F-42BC-81B5-F715DEB4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914650"/>
            <a:ext cx="2476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A3CB3BE-DEB9-42EE-BDD3-C682EEB97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9146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8516783-C50D-4E83-B457-FDC239A6A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990850"/>
            <a:ext cx="1238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3CF05ED-1F74-487E-A786-450D8D13B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990850"/>
            <a:ext cx="285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BUI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E25AE58-9F09-4727-B1E2-7E615D9F4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2990850"/>
            <a:ext cx="76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EA557BE-2A72-48DA-84E9-284885B51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18135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76993F8-4DC4-4375-B861-38C8DB9A4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27660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PERSONA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C5DF0AF-59B6-49C3-B219-1C7DE1B85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38500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Builder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0106834-BF8A-404F-92C8-BE48ED67C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46710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C3A53A2-B415-489C-846F-357217AE5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58140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VALUE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4FDFDFF-3DA8-40EC-AFFF-E26FE4465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524250"/>
            <a:ext cx="1562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What can I build with this?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CC8CD93-D01B-4A28-99BD-E8CBB194B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57600"/>
            <a:ext cx="381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47A8AD4-2444-453D-A7CB-6EB858D7B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638550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5F90928-C9B5-4331-BA31-5B76125A8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038600"/>
            <a:ext cx="2476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63D5AE4-DD7F-4300-879F-AFF2AF7A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0386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36D7204-AA77-4C85-8A04-D9F9D023A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114800"/>
            <a:ext cx="1238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2F1E375-3421-4A9D-A150-87BE50EDD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14800"/>
            <a:ext cx="285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VC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D72ACCE-1113-4FCC-8CD1-7E61BFCAC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114800"/>
            <a:ext cx="76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0D54392-2AA5-470D-813D-8D3275263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30530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EE970D2-F2C7-4D92-9574-6DEC1221C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40055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PERSONA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EC4A7CC-D458-4ABF-8063-D5DA13B33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362450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VC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3B03CE3-E8DD-416A-9065-7BCA5680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59105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C6A5B26-FCE4-4B10-8262-B41B6A7F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0535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VALUE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F8DEF8D-61B8-4D9A-A500-B3AFB559A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648200"/>
            <a:ext cx="1562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What market shift is happening?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8025707-5CA2-4C1A-BDA0-BB716CED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81550"/>
            <a:ext cx="381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D468AD7-C6BA-4EC5-8AA0-A9A406E87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4762500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132C6F0-BAAF-4DC3-888C-FC05247BB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162550"/>
            <a:ext cx="2476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2B8AEB2-06BB-44CF-8786-C01AB7A2F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1625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950111D-480B-42DB-B6F0-F119B4154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238750"/>
            <a:ext cx="1238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86A11FF-1342-493D-BC7F-80650A1F7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238750"/>
            <a:ext cx="285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EVE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BEC0CE2-C576-46E7-9827-60FCBCA63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5238750"/>
            <a:ext cx="76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0B17C2D-FBBD-4355-8E26-E5C5F8BA1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42925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6BCF4CA-4CB5-4D4C-8914-1E930B164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52450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PERSONA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8B41313-6907-4803-987C-B62654B5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486400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Everyday Person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9076CE99-D553-4790-B445-82BD01924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71500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A03FF23-B990-4C3E-AAFD-79F801F5C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82930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VALUE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3D377D5-73BA-480D-B899-71C1C320B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772150"/>
            <a:ext cx="1562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What does this mean for my life?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733C7C8-BD0D-4915-9590-801718A53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905500"/>
            <a:ext cx="381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0E1C49A-E5A8-4A51-99D9-74E00BEB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5886450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76CE161-D577-4BBD-AE31-C8ABCB5B4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933950"/>
            <a:ext cx="4991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4CC096B-0B02-4692-BEC4-8147A05B9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5048250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5482E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B5482E"/>
                </a:solidFill>
                <a:latin typeface="Aptos Mono"/>
                <a:ea typeface="Aptos Mono"/>
                <a:cs typeface="Aptos Mono"/>
              </a:rPr>
              <a:t>Not shorter information.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5B27AAA-231E-42B4-9FE8-46FDE17DC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5257800"/>
            <a:ext cx="4343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4191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41913"/>
                </a:solidFill>
                <a:latin typeface="Aptos"/>
                <a:ea typeface="Aptos"/>
                <a:cs typeface="Aptos"/>
              </a:rPr>
              <a:t>The value is translating the same change into different personal meanings.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96BE83FF-97BE-4BA6-A9E5-7FA78AF3F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139FA6A-A268-4814-927C-AD39DCADC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CB022E3C-8DAF-46DD-A318-ED101B1AF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90122199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08CD87-2A5F-4727-94C4-2425FADF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CE6322E8-1E7A-4044-AA40-CA08A115F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62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F31664A6-B075-4A7B-9C78-89B67C847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62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TECHNOLOGY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C050F6-DFE2-437F-81A9-CDA9F3DDD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5905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00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Live Signal First,</a:t>
            </a:r>
          </a:p>
          <a:p xmlns:a="http://schemas.openxmlformats.org/drawingml/2006/main">
            <a:pPr algn="l">
              <a:defRPr sz="300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00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Demo-Safe Fallback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BE03C7-851A-45BD-A8CA-06027FBD1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76450"/>
            <a:ext cx="514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rPr>
              <a:t>实时信号优先，演示稳定兜底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EA0910-3E8C-48FB-AE83-51B9027A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533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8F0E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8F0E6"/>
                </a:solidFill>
                <a:latin typeface="Aptos"/>
                <a:ea typeface="Aptos"/>
                <a:cs typeface="Aptos"/>
              </a:rPr>
              <a:t>Designed for real-time Grok / X signal ingestion.</a:t>
            </a:r>
          </a:p>
          <a:p xmlns:a="http://schemas.openxmlformats.org/drawingml/2006/main">
            <a:pPr algn="l">
              <a:defRPr sz="1275" b="0">
                <a:solidFill>
                  <a:srgbClr val="F8F0E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8F0E6"/>
                </a:solidFill>
                <a:latin typeface="Aptos"/>
                <a:ea typeface="Aptos"/>
                <a:cs typeface="Aptos"/>
              </a:rPr>
              <a:t>Backed by a curated xAI / Grok signal bank for stable hackathon demos.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CF7631-3B37-4CF1-9838-890E74857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533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DBFA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CDBFAE"/>
                </a:solidFill>
                <a:latin typeface="Microsoft YaHei UI"/>
                <a:ea typeface="Microsoft YaHei UI"/>
                <a:cs typeface="Microsoft YaHei UI"/>
              </a:rPr>
              <a:t>首选接入实时 Grok / X 信息流；现场演示使用预置 xAI / Grok signal bank 作为稳定兜底。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BB0D51-FCF6-432C-90C3-FE46DAB02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31623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12383">
            <a:solidFill>
              <a:srgbClr val="5F514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0A5762-E279-4553-8B3B-7BA4F2241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3162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FC6517-83C4-49D7-9662-886FDA607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9525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0CE03A-5BCE-4480-9ED1-5E4470930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2647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3BA7A1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3BA7A1"/>
                </a:solidFill>
                <a:latin typeface="Aptos Mono"/>
                <a:ea typeface="Aptos Mono"/>
                <a:cs typeface="Aptos Mono"/>
              </a:rPr>
              <a:t>PRIMARY PRODUCT MODE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155F10-2B1C-464C-BF16-DE904AEB8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2647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125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Live Signal Stream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393B37-A90D-4060-B9EC-E4D3AA38A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6245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078130-06EA-4E85-A5F2-15B50DFB6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624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8E2811-0865-4EBC-8A19-D13B9555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4196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Designed for Grok / X API ingestion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82CBDC-CF97-4097-A059-53C6D5AA2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B7447D-9A10-45B4-A712-A268E987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DC4641-BC41-4887-A63A-57F2B3C03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74345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Target live signal stream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F66EF0-027F-436C-B415-41A064E3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1015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3D259A-8E7B-4F96-9834-70BA860D9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101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D2B629-5239-461E-B54B-2DFAC0317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0673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Dynamic information shelves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29C6B5-39BA-4E9B-8DBD-4231B0382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43880A-79BF-4D03-9A9D-92AAC5846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C8BB24-56D8-4D57-85C9-7737D1667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39115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Fresh raw signals from today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0DCD59-95DA-4DCB-91FF-A3EC4BDBB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14700"/>
            <a:ext cx="316230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12383">
            <a:solidFill>
              <a:srgbClr val="5F514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E3B683-3ABE-4987-9C82-929235850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14700"/>
            <a:ext cx="3162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31AEB6-2704-46E6-9EDB-AF7FDDC9C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14700"/>
            <a:ext cx="9525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FB3681-70F3-482E-A7ED-99C518C7A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448050"/>
            <a:ext cx="2647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B5482E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B5482E"/>
                </a:solidFill>
                <a:latin typeface="Aptos Mono"/>
                <a:ea typeface="Aptos Mono"/>
                <a:cs typeface="Aptos Mono"/>
              </a:rPr>
              <a:t>SAME BREWING PIPELINE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E5D8D5-8503-4EA2-996B-95A098992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600450"/>
            <a:ext cx="2647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125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One pipeline for both inputs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6137CA-E571-4E95-A77C-30D33B0D9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05765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6B35549-C245-4DAD-9D20-905742B7D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0576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DB862C5-077B-45AD-90DE-C11CFB528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1148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Extracted Slice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6DA71C8-F54C-4E3D-B171-0DF5E345E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8150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4F4AEC8-116A-4652-ABD2-81EEC4599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815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1E277D3-426D-4361-A4F9-C012C7EF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43865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Persona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6B1A630-22E2-4E4B-B969-4087A0E9E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70535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F8C48C7-1C58-47B5-A9CB-D339CB5B9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7053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710A992-31FE-43E9-9B57-EEB66084E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7625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Density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CF16427-DF2D-4856-919C-32C141243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02920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53CD314-5D41-425A-A110-86A35696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0292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FE4184D-B9D6-4F0C-AF6D-7409C6D4C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08635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Served Hot / Iced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671338D-1EE7-426C-8EAF-618803ABB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35305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8B90039-4D2D-48FC-BA5D-4E864C02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3530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AA55FFE-76E2-4206-AB1C-E3ADE3DFB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4102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Brew Result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274CF08-103F-42C3-8CBC-943D024D1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67690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B01C967-528C-4AB8-A9CB-ECB99A4E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6769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B3DAA5C-7C86-425D-BE9B-EE327E8D8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73405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Label / Pick Up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9F72A7F-C01B-442C-B5BC-B56BC9B6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19500"/>
            <a:ext cx="31623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12383">
            <a:solidFill>
              <a:srgbClr val="5F5147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9EEF285-5E03-4D5C-8D5A-C2A57D9BA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19500"/>
            <a:ext cx="3162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1EFCC6F-AF8B-45F3-B48A-E60051A85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19500"/>
            <a:ext cx="9525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32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A7AE683-385C-42AB-8734-5F5F77FE3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752850"/>
            <a:ext cx="2647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8F321F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8F321F"/>
                </a:solidFill>
                <a:latin typeface="Aptos Mono"/>
                <a:ea typeface="Aptos Mono"/>
                <a:cs typeface="Aptos Mono"/>
              </a:rPr>
              <a:t>DEMO-SAFE FALLBACK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4694B69-65E2-4267-B44B-77E451AFD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905250"/>
            <a:ext cx="2647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125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Curated Signal Bank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0A74C1D-522A-4871-9C09-C67AD7D37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36245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5C4AB46-439F-498B-8589-BC3B2792F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3624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2DF1D90-A165-4079-A894-67BFE2A14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4196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Preloaded xAI / Grok signals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0399357-3266-4FC3-BF33-F437775EB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68630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2345731-FCD9-4A7A-B7C5-01B359B34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6863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5581F80-246A-4919-B944-0DB375386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74345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6 shelves × 9 raw signals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94B7E89-AA39-4006-BC34-BF23AFD67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01015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9F080D4-7853-46B5-BBEC-3817DDCAD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0101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F957AAA-04E7-4E92-AE65-D6D717CBB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50673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No network / API risk on stage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C5B8130-6A3D-4A68-BF60-40196D2E1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33400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B2B0EEB-152F-4F40-B432-45EBDD4AD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3340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8B087AB-5C0C-4238-B727-6E10717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539115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Same output experience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D72E343-7D2D-4666-983F-C05E8022A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572000"/>
            <a:ext cx="742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DF5BC77-C1F6-4C9C-A5BB-A747C70A6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572000"/>
            <a:ext cx="742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32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EAF3FFA-59DD-4CA6-A8C4-C68D358C2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362450"/>
            <a:ext cx="400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CDBFAE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CDBFAE"/>
                </a:solidFill>
                <a:latin typeface="Aptos Mono"/>
                <a:ea typeface="Aptos Mono"/>
                <a:cs typeface="Aptos Mono"/>
              </a:rPr>
              <a:t>input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82E20C2-43DA-469A-8721-AE3E00117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362450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CDBFAE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CDBFAE"/>
                </a:solidFill>
                <a:latin typeface="Aptos Mono"/>
                <a:ea typeface="Aptos Mono"/>
                <a:cs typeface="Aptos Mono"/>
              </a:rPr>
              <a:t>fallback input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F71B79D-507F-41DB-8A0C-00477C8CF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48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A614434-A2A5-4C70-B0F4-4F2DC776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0A1C3DE-FC75-4425-BAC2-F9E6DB599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7366955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405350-486A-434A-95C7-5FEECDEFF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87e1343452473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8F1E9C-C082-45F7-9CF6-850A8A647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191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>
              <a:alpha val="9176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02BE8C-9BE2-4810-BBCA-41179C665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4854FC76-F5C2-4EF1-95AD-A505F69F0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03382973-A33A-475A-BE41-CC0FF9950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3340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CLOSING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60877F-388E-4958-8090-D3E93B2A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43000"/>
            <a:ext cx="51244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Don’t Read</a:t>
            </a:r>
          </a:p>
          <a:p xmlns:a="http://schemas.openxmlformats.org/drawingml/2006/main">
            <a:pPr algn="l">
              <a:defRPr sz="4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the Age.</a:t>
            </a:r>
          </a:p>
          <a:p xmlns:a="http://schemas.openxmlformats.org/drawingml/2006/main">
            <a:pPr algn="l">
              <a:defRPr sz="4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Drink It.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EECA2C-134F-4F7E-A87E-4051FA545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743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80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不要只是阅读时代，把它喝下去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1D9BE1-D84B-439E-AD67-25FAF8739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671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41913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241913"/>
                </a:solidFill>
                <a:latin typeface="Aptos Mono"/>
                <a:ea typeface="Aptos Mono"/>
                <a:cs typeface="Aptos Mono"/>
              </a:rPr>
              <a:t>order → extract → personalize → brew → label → pick up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A3C744-2D67-4943-9625-D0B502E18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76750"/>
            <a:ext cx="2857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rPr>
              <a:t>Time Slice Coffee 让人们不只是刷到信息，而是带走一杯属于自己的时代切片。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1DE2E9-3D2E-4206-9539-373E4520C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203835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12383">
            <a:solidFill>
              <a:srgbClr val="15100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45576A-CC0E-4074-B6E8-7DD8FB115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2038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3E683D-ED0A-4DFC-82CC-2EB5A64FC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829050"/>
            <a:ext cx="1182243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684FAC-5E3C-473E-93AD-59321EDC0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8385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BB0F17-9B07-4A9B-8B9C-363D9CA1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7493" y="3838575"/>
            <a:ext cx="652272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PICK UP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382605-C743-4DC1-AFE1-DB916A0B8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152900"/>
            <a:ext cx="2038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63EFE1-2D8D-4735-AB61-B823F783A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219575"/>
            <a:ext cx="713422" cy="1095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SHELF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57EF5-63B6-45A6-9531-EAD516812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823" y="4200525"/>
            <a:ext cx="1121093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AI Frontier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093B50-B549-414E-A716-9E008ECA4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391025"/>
            <a:ext cx="2038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C3C43C-DFD3-44A3-85B2-B44DDC537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457700"/>
            <a:ext cx="713422" cy="1095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PERSONA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EE6CE9-9C50-4BA2-A6E3-B6781AB8D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823" y="4438650"/>
            <a:ext cx="1121093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Builder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48C091-5CEA-4625-A3C4-A744A1F6F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29150"/>
            <a:ext cx="2038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C7BFD1-0C63-48CD-80DA-9D746A23E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695825"/>
            <a:ext cx="713422" cy="1095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DENSITY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BFD422-C764-4A8A-B719-79D69B8CF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823" y="4676775"/>
            <a:ext cx="1121093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Regular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288D8B-2614-47EF-8574-E3BFB71BD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867275"/>
            <a:ext cx="2038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B5002D-E091-4B50-B526-397BD39B8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933950"/>
            <a:ext cx="713422" cy="1095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SERVED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54D35B-F60C-4240-89F1-4F88CC321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823" y="4914900"/>
            <a:ext cx="1121093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Iced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CA4774-0645-417D-BF78-FE5531956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105400"/>
            <a:ext cx="2038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468703-4093-4E58-BC2B-77B91B9F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172075"/>
            <a:ext cx="713422" cy="1095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BREW RESULT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16C3E7-E227-4DA3-9913-DFCE65794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823" y="5153025"/>
            <a:ext cx="1121093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What it means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6E3B53C-3B3B-47B6-8A10-8B3947E59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343525"/>
            <a:ext cx="2038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181D389-C0F9-483E-AF1B-13E528618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410200"/>
            <a:ext cx="713422" cy="1095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TAKEAWAY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99AD236-868F-4EE8-9982-98F79B707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823" y="5391150"/>
            <a:ext cx="1121093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Carry it away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2348C6-CB14-4F15-8B1B-3E40EA1DC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657850"/>
            <a:ext cx="3238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915D874-0594-4AF5-B854-C941D73EF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1938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2983B3C-B672-4F18-B4B4-7FFADE1CE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20B145A-7EB5-474D-9CC8-ED2B9B468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6713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6A709BD-EAC9-4454-AFA9-88610E1E5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657850"/>
            <a:ext cx="3238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E50EF64-797F-4D92-AF8C-B1E2B6249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1488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AE2B822-AF8B-4DCD-8AE1-3DFFC6B8A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B7E0ED9-7812-45FA-BDA5-E1D7C1AE2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6263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9E5E619-503B-4E64-ADD3-A3618D50C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657850"/>
            <a:ext cx="3238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DEC3DA0-D0CB-4F8B-AECC-CC01D821A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1038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E04F9D9-41D3-4DC9-9AA7-A3882670B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2A72503-02A5-4C7E-9D97-9EA10B63D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5813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39F4314-9ABA-42EC-8134-1C5A3D6A0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657850"/>
            <a:ext cx="3238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71443FA-944F-41D8-AC41-7E9C26A80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0588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CD46F61-5EAC-4850-9A44-2B991ADB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BF0ADA4-B5D6-41A8-9487-E68BA4104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363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C58EAFE-A55A-4D49-BE0A-83F892C3D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648325"/>
            <a:ext cx="1333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63B64D7-7F85-411C-8578-9DDFD4FFF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19700"/>
            <a:ext cx="2952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55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你今日 fo 了</a:t>
            </a:r>
          </a:p>
          <a:p xmlns:a="http://schemas.openxmlformats.org/drawingml/2006/main">
            <a:pPr algn="l">
              <a:defRPr sz="255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55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mo？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2C75465-063B-43B4-B58B-8495B8421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FD2DDD4-28E5-4B83-8E6A-20CA79BF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435AE54-9BF7-4DC5-A48B-29A315EEB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100048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2026-05-30T09:37:53.0000000Z</dcterms:created>
  <dcterms:modified xsi:type="dcterms:W3CDTF">2026-05-30T09:37:53.0000000Z</dcterms:modified>
</coreProperties>
</file>